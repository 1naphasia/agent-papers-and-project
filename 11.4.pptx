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
  </p:notesMasterIdLst>
  <p:sldIdLst>
    <p:sldId id="256" r:id="rId2"/>
    <p:sldId id="522" r:id="rId3"/>
    <p:sldId id="523" r:id="rId4"/>
    <p:sldId id="524" r:id="rId5"/>
    <p:sldId id="526" r:id="rId6"/>
    <p:sldId id="527"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5745" userDrawn="1">
          <p15:clr>
            <a:srgbClr val="A4A3A4"/>
          </p15:clr>
        </p15:guide>
        <p15:guide id="2" orient="horz" pos="845" userDrawn="1">
          <p15:clr>
            <a:srgbClr val="A4A3A4"/>
          </p15:clr>
        </p15:guide>
        <p15:guide id="3" pos="143" userDrawn="1">
          <p15:clr>
            <a:srgbClr val="A4A3A4"/>
          </p15:clr>
        </p15:guide>
        <p15:guide id="5" pos="6471" userDrawn="1">
          <p15:clr>
            <a:srgbClr val="A4A3A4"/>
          </p15:clr>
        </p15:guide>
        <p15:guide id="7" orient="horz" pos="2137" userDrawn="1">
          <p15:clr>
            <a:srgbClr val="A4A3A4"/>
          </p15:clr>
        </p15:guide>
        <p15:guide id="8" orient="horz" pos="4119" userDrawn="1">
          <p15:clr>
            <a:srgbClr val="A4A3A4"/>
          </p15:clr>
        </p15:guide>
        <p15:guide id="9" pos="2071" userDrawn="1">
          <p15:clr>
            <a:srgbClr val="A4A3A4"/>
          </p15:clr>
        </p15:guide>
        <p15:guide id="10" pos="1640" userDrawn="1">
          <p15:clr>
            <a:srgbClr val="A4A3A4"/>
          </p15:clr>
        </p15:guide>
        <p15:guide id="11" pos="3840" userDrawn="1">
          <p15:clr>
            <a:srgbClr val="A4A3A4"/>
          </p15:clr>
        </p15:guide>
        <p15:guide id="12" pos="2615" userDrawn="1">
          <p15:clr>
            <a:srgbClr val="A4A3A4"/>
          </p15:clr>
        </p15:guide>
        <p15:guide id="13" pos="7446" userDrawn="1">
          <p15:clr>
            <a:srgbClr val="A4A3A4"/>
          </p15:clr>
        </p15:guide>
        <p15:guide id="14" pos="3205" userDrawn="1">
          <p15:clr>
            <a:srgbClr val="A4A3A4"/>
          </p15:clr>
        </p15:guide>
        <p15:guide id="15" pos="1232" userDrawn="1">
          <p15:clr>
            <a:srgbClr val="A4A3A4"/>
          </p15:clr>
        </p15:guide>
        <p15:guide id="16" orient="horz" pos="1094" userDrawn="1">
          <p15:clr>
            <a:srgbClr val="A4A3A4"/>
          </p15:clr>
        </p15:guide>
        <p15:guide id="17" pos="4929" userDrawn="1">
          <p15:clr>
            <a:srgbClr val="A4A3A4"/>
          </p15:clr>
        </p15:guide>
        <p15:guide id="18" orient="horz" pos="293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8618017028101"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C4C8A"/>
    <a:srgbClr val="FFFFFF"/>
    <a:srgbClr val="A7CF8C"/>
    <a:srgbClr val="9EC5E6"/>
    <a:srgbClr val="336699"/>
    <a:srgbClr val="FFE6C1"/>
    <a:srgbClr val="F6FAF4"/>
    <a:srgbClr val="FFFBF1"/>
    <a:srgbClr val="FFD2CC"/>
    <a:srgbClr val="F4F7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11"/>
    <p:restoredTop sz="88971" autoAdjust="0"/>
  </p:normalViewPr>
  <p:slideViewPr>
    <p:cSldViewPr snapToGrid="0" snapToObjects="1" showGuides="1">
      <p:cViewPr varScale="1">
        <p:scale>
          <a:sx n="144" d="100"/>
          <a:sy n="144" d="100"/>
        </p:scale>
        <p:origin x="1074" y="126"/>
      </p:cViewPr>
      <p:guideLst>
        <p:guide pos="5745"/>
        <p:guide orient="horz" pos="845"/>
        <p:guide pos="143"/>
        <p:guide pos="6471"/>
        <p:guide orient="horz" pos="2137"/>
        <p:guide orient="horz" pos="4119"/>
        <p:guide pos="2071"/>
        <p:guide pos="1640"/>
        <p:guide pos="3840"/>
        <p:guide pos="2615"/>
        <p:guide pos="7446"/>
        <p:guide pos="3205"/>
        <p:guide pos="1232"/>
        <p:guide orient="horz" pos="1094"/>
        <p:guide pos="4929"/>
        <p:guide orient="horz" pos="2931"/>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18642-BCBA-F946-97C9-CC35329AF2F4}" type="datetimeFigureOut">
              <a:rPr kumimoji="1" lang="zh-CN" altLang="en-US" smtClean="0"/>
              <a:t>2025/11/4</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6B629C-3C49-2C4E-AED8-ABB4F172B06E}"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66B629C-3C49-2C4E-AED8-ABB4F172B06E}" type="slidenum">
              <a:rPr kumimoji="1" lang="zh-CN" altLang="en-US" smtClean="0"/>
              <a:t>1</a:t>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7" name="직사각형 13"/>
          <p:cNvSpPr/>
          <p:nvPr userDrawn="1"/>
        </p:nvSpPr>
        <p:spPr>
          <a:xfrm>
            <a:off x="0" y="6757389"/>
            <a:ext cx="12192000" cy="112643"/>
          </a:xfrm>
          <a:prstGeom prst="rect">
            <a:avLst/>
          </a:prstGeom>
          <a:solidFill>
            <a:srgbClr val="0C4C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n-ea"/>
            </a:endParaRPr>
          </a:p>
        </p:txBody>
      </p:sp>
      <p:sp>
        <p:nvSpPr>
          <p:cNvPr id="5" name="灯片编号占位符 5"/>
          <p:cNvSpPr>
            <a:spLocks noGrp="1"/>
          </p:cNvSpPr>
          <p:nvPr>
            <p:ph type="sldNum" sz="quarter" idx="4"/>
          </p:nvPr>
        </p:nvSpPr>
        <p:spPr>
          <a:xfrm>
            <a:off x="11058988" y="6268825"/>
            <a:ext cx="1021237" cy="407229"/>
          </a:xfrm>
          <a:prstGeom prst="rect">
            <a:avLst/>
          </a:prstGeom>
        </p:spPr>
        <p:txBody>
          <a:bodyPr vert="horz" lIns="91440" tIns="45720" rIns="91440" bIns="45720" rtlCol="0" anchor="ctr"/>
          <a:lstStyle>
            <a:lvl1pPr algn="r">
              <a:defRPr sz="1600" b="1">
                <a:solidFill>
                  <a:schemeClr val="tx1"/>
                </a:solidFill>
                <a:latin typeface="Microsoft YaHei" panose="020B0503020204020204" pitchFamily="34" charset="-122"/>
                <a:ea typeface="Microsoft YaHei" panose="020B0503020204020204" pitchFamily="34" charset="-122"/>
              </a:defRPr>
            </a:lvl1pPr>
          </a:lstStyle>
          <a:p>
            <a:pPr algn="ctr"/>
            <a:r>
              <a:rPr lang="zh-CN" altLang="en-US" dirty="0"/>
              <a:t>第</a:t>
            </a:r>
            <a:fld id="{927B4DEE-248E-4803-A9BC-AC1125CD381C}" type="slidenum">
              <a:rPr lang="zh-CN" altLang="en-US" smtClean="0"/>
              <a:t>‹#›</a:t>
            </a:fld>
            <a:r>
              <a:rPr lang="zh-CN" altLang="en-US" dirty="0"/>
              <a:t>页</a:t>
            </a:r>
          </a:p>
        </p:txBody>
      </p:sp>
      <p:pic>
        <p:nvPicPr>
          <p:cNvPr id="6" name="图片 5"/>
          <p:cNvPicPr>
            <a:picLocks noChangeAspect="1"/>
          </p:cNvPicPr>
          <p:nvPr userDrawn="1"/>
        </p:nvPicPr>
        <p:blipFill>
          <a:blip r:embed="rId2"/>
          <a:stretch>
            <a:fillRect/>
          </a:stretch>
        </p:blipFill>
        <p:spPr>
          <a:xfrm>
            <a:off x="9303103" y="198119"/>
            <a:ext cx="2664000" cy="673213"/>
          </a:xfrm>
          <a:prstGeom prst="rect">
            <a:avLst/>
          </a:prstGeom>
        </p:spPr>
      </p:pic>
      <p:sp>
        <p:nvSpPr>
          <p:cNvPr id="8" name="矩形 7"/>
          <p:cNvSpPr/>
          <p:nvPr userDrawn="1"/>
        </p:nvSpPr>
        <p:spPr>
          <a:xfrm>
            <a:off x="224897" y="198118"/>
            <a:ext cx="273236" cy="673213"/>
          </a:xfrm>
          <a:prstGeom prst="rect">
            <a:avLst/>
          </a:prstGeom>
          <a:solidFill>
            <a:srgbClr val="0C4C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224897" y="198118"/>
            <a:ext cx="273236" cy="673213"/>
          </a:xfrm>
          <a:prstGeom prst="rect">
            <a:avLst/>
          </a:prstGeom>
          <a:solidFill>
            <a:srgbClr val="0C4C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 name="图片 6"/>
          <p:cNvPicPr>
            <a:picLocks noChangeAspect="1"/>
          </p:cNvPicPr>
          <p:nvPr userDrawn="1"/>
        </p:nvPicPr>
        <p:blipFill>
          <a:blip r:embed="rId4"/>
          <a:stretch>
            <a:fillRect/>
          </a:stretch>
        </p:blipFill>
        <p:spPr>
          <a:xfrm>
            <a:off x="9303103" y="198119"/>
            <a:ext cx="2664000" cy="673213"/>
          </a:xfrm>
          <a:prstGeom prst="rect">
            <a:avLst/>
          </a:prstGeom>
        </p:spPr>
      </p:pic>
      <p:sp>
        <p:nvSpPr>
          <p:cNvPr id="9" name="灯片编号占位符 5"/>
          <p:cNvSpPr>
            <a:spLocks noGrp="1"/>
          </p:cNvSpPr>
          <p:nvPr userDrawn="1"/>
        </p:nvSpPr>
        <p:spPr>
          <a:xfrm>
            <a:off x="11058988" y="6268825"/>
            <a:ext cx="1021237" cy="407229"/>
          </a:xfrm>
          <a:prstGeom prst="rect">
            <a:avLst/>
          </a:prstGeom>
        </p:spPr>
        <p:txBody>
          <a:bodyPr vert="horz" lIns="91440" tIns="45720" rIns="91440" bIns="45720" rtlCol="0" anchor="ctr"/>
          <a:lstStyle>
            <a:lvl1pPr algn="r">
              <a:defRPr sz="1600" b="1">
                <a:solidFill>
                  <a:schemeClr val="tx1"/>
                </a:solidFill>
                <a:latin typeface="Microsoft YaHei" panose="020B0503020204020204" pitchFamily="34" charset="-122"/>
                <a:ea typeface="Microsoft YaHei" panose="020B0503020204020204" pitchFamily="34" charset="-122"/>
              </a:defRPr>
            </a:lvl1pPr>
          </a:lstStyle>
          <a:p>
            <a:pPr algn="ctr"/>
            <a:r>
              <a:rPr lang="zh-CN" altLang="en-US" dirty="0"/>
              <a:t>第</a:t>
            </a:r>
            <a:fld id="{927B4DEE-248E-4803-A9BC-AC1125CD381C}" type="slidenum">
              <a:rPr lang="zh-CN" altLang="en-US" smtClean="0"/>
              <a:t>‹#›</a:t>
            </a:fld>
            <a:r>
              <a:rPr lang="zh-CN" altLang="en-US" dirty="0"/>
              <a:t>页</a:t>
            </a:r>
          </a:p>
        </p:txBody>
      </p:sp>
      <p:sp>
        <p:nvSpPr>
          <p:cNvPr id="10" name="직사각형 13"/>
          <p:cNvSpPr/>
          <p:nvPr userDrawn="1"/>
        </p:nvSpPr>
        <p:spPr>
          <a:xfrm>
            <a:off x="0" y="6757389"/>
            <a:ext cx="12192000" cy="112643"/>
          </a:xfrm>
          <a:prstGeom prst="rect">
            <a:avLst/>
          </a:prstGeom>
          <a:solidFill>
            <a:srgbClr val="0C4C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n-ea"/>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p:cNvSpPr/>
          <p:nvPr/>
        </p:nvSpPr>
        <p:spPr>
          <a:xfrm>
            <a:off x="0" y="1647612"/>
            <a:ext cx="12192000" cy="3468918"/>
          </a:xfrm>
          <a:custGeom>
            <a:avLst/>
            <a:gdLst>
              <a:gd name="connsiteX0" fmla="*/ 0 w 12192000"/>
              <a:gd name="connsiteY0" fmla="*/ 0 h 3402001"/>
              <a:gd name="connsiteX1" fmla="*/ 5160769 w 12192000"/>
              <a:gd name="connsiteY1" fmla="*/ 0 h 3402001"/>
              <a:gd name="connsiteX2" fmla="*/ 5200385 w 12192000"/>
              <a:gd name="connsiteY2" fmla="*/ 127622 h 3402001"/>
              <a:gd name="connsiteX3" fmla="*/ 6096000 w 12192000"/>
              <a:gd name="connsiteY3" fmla="*/ 721275 h 3402001"/>
              <a:gd name="connsiteX4" fmla="*/ 6991616 w 12192000"/>
              <a:gd name="connsiteY4" fmla="*/ 127622 h 3402001"/>
              <a:gd name="connsiteX5" fmla="*/ 7031232 w 12192000"/>
              <a:gd name="connsiteY5" fmla="*/ 0 h 3402001"/>
              <a:gd name="connsiteX6" fmla="*/ 12192000 w 12192000"/>
              <a:gd name="connsiteY6" fmla="*/ 0 h 3402001"/>
              <a:gd name="connsiteX7" fmla="*/ 12192000 w 12192000"/>
              <a:gd name="connsiteY7" fmla="*/ 3402001 h 3402001"/>
              <a:gd name="connsiteX8" fmla="*/ 0 w 12192000"/>
              <a:gd name="connsiteY8" fmla="*/ 3402001 h 3402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3402001">
                <a:moveTo>
                  <a:pt x="0" y="0"/>
                </a:moveTo>
                <a:lnTo>
                  <a:pt x="5160769" y="0"/>
                </a:lnTo>
                <a:lnTo>
                  <a:pt x="5200385" y="127622"/>
                </a:lnTo>
                <a:cubicBezTo>
                  <a:pt x="5347943" y="476487"/>
                  <a:pt x="5693385" y="721275"/>
                  <a:pt x="6096000" y="721275"/>
                </a:cubicBezTo>
                <a:cubicBezTo>
                  <a:pt x="6498616" y="721275"/>
                  <a:pt x="6844058" y="476487"/>
                  <a:pt x="6991616" y="127622"/>
                </a:cubicBezTo>
                <a:lnTo>
                  <a:pt x="7031232" y="0"/>
                </a:lnTo>
                <a:lnTo>
                  <a:pt x="12192000" y="0"/>
                </a:lnTo>
                <a:lnTo>
                  <a:pt x="12192000" y="3402001"/>
                </a:lnTo>
                <a:lnTo>
                  <a:pt x="0" y="3402001"/>
                </a:lnTo>
                <a:close/>
              </a:path>
            </a:pathLst>
          </a:custGeom>
          <a:solidFill>
            <a:srgbClr val="0C4C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8" name="LOGO"/>
          <p:cNvPicPr>
            <a:picLocks noChangeAspect="1"/>
          </p:cNvPicPr>
          <p:nvPr>
            <p:custDataLst>
              <p:tags r:id="rId1"/>
            </p:custDataLst>
          </p:nvPr>
        </p:nvPicPr>
        <p:blipFill>
          <a:blip r:embed="rId4"/>
          <a:stretch>
            <a:fillRect/>
          </a:stretch>
        </p:blipFill>
        <p:spPr>
          <a:xfrm>
            <a:off x="5200072" y="540654"/>
            <a:ext cx="1791856" cy="1800000"/>
          </a:xfrm>
          <a:prstGeom prst="rect">
            <a:avLst/>
          </a:prstGeom>
        </p:spPr>
      </p:pic>
      <p:sp>
        <p:nvSpPr>
          <p:cNvPr id="12" name="矩形 11"/>
          <p:cNvSpPr/>
          <p:nvPr/>
        </p:nvSpPr>
        <p:spPr>
          <a:xfrm>
            <a:off x="0" y="6749593"/>
            <a:ext cx="12192000" cy="124174"/>
          </a:xfrm>
          <a:prstGeom prst="rect">
            <a:avLst/>
          </a:prstGeom>
          <a:solidFill>
            <a:srgbClr val="0C4C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矩形 13"/>
          <p:cNvSpPr/>
          <p:nvPr/>
        </p:nvSpPr>
        <p:spPr>
          <a:xfrm>
            <a:off x="1" y="4385285"/>
            <a:ext cx="12191999" cy="132310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 name="文本框 3"/>
          <p:cNvSpPr txBox="1"/>
          <p:nvPr/>
        </p:nvSpPr>
        <p:spPr>
          <a:xfrm>
            <a:off x="3854872" y="4515065"/>
            <a:ext cx="4665135" cy="961289"/>
          </a:xfrm>
          <a:prstGeom prst="rect">
            <a:avLst/>
          </a:prstGeom>
          <a:noFill/>
        </p:spPr>
        <p:txBody>
          <a:bodyPr wrap="square">
            <a:spAutoFit/>
          </a:bodyPr>
          <a:lstStyle/>
          <a:p>
            <a:pPr algn="ctr">
              <a:lnSpc>
                <a:spcPct val="150000"/>
              </a:lnSpc>
            </a:pPr>
            <a:r>
              <a:rPr lang="zh-CN" altLang="en-US" sz="2000" spc="300" dirty="0">
                <a:solidFill>
                  <a:srgbClr val="0C4C8A"/>
                </a:solidFill>
                <a:latin typeface="Microsoft YaHei" panose="020B0503020204020204" pitchFamily="34" charset="-122"/>
                <a:ea typeface="思源宋体 CN Heavy" panose="02020900000000000000" pitchFamily="18" charset="-122"/>
                <a:sym typeface="方正宋刻本秀楷简体"/>
              </a:rPr>
              <a:t> </a:t>
            </a:r>
            <a:endParaRPr lang="en-US" altLang="zh-CN" sz="2000" spc="300" dirty="0">
              <a:solidFill>
                <a:srgbClr val="0C4C8A"/>
              </a:solidFill>
              <a:latin typeface="Microsoft YaHei" panose="020B0503020204020204" pitchFamily="34" charset="-122"/>
              <a:ea typeface="思源宋体 CN Heavy" panose="02020900000000000000" pitchFamily="18" charset="-122"/>
              <a:sym typeface="方正宋刻本秀楷简体"/>
            </a:endParaRPr>
          </a:p>
          <a:p>
            <a:pPr algn="ctr">
              <a:lnSpc>
                <a:spcPct val="150000"/>
              </a:lnSpc>
            </a:pPr>
            <a:r>
              <a:rPr lang="zh-CN" altLang="en-US" sz="2000" spc="300" dirty="0">
                <a:solidFill>
                  <a:srgbClr val="0C4C8A"/>
                </a:solidFill>
                <a:latin typeface="Microsoft YaHei" panose="020B0503020204020204" pitchFamily="34" charset="-122"/>
                <a:ea typeface="思源宋体 CN Heavy" panose="02020900000000000000" pitchFamily="18" charset="-122"/>
                <a:sym typeface="方正宋刻本秀楷简体"/>
              </a:rPr>
              <a:t>日期：</a:t>
            </a:r>
            <a:r>
              <a:rPr lang="en-US" altLang="zh-CN" sz="2000" spc="300" dirty="0">
                <a:solidFill>
                  <a:srgbClr val="0C4C8A"/>
                </a:solidFill>
                <a:latin typeface="Microsoft YaHei" panose="020B0503020204020204" pitchFamily="34" charset="-122"/>
                <a:ea typeface="思源宋体 CN Heavy" panose="02020900000000000000" pitchFamily="18" charset="-122"/>
                <a:sym typeface="方正宋刻本秀楷简体"/>
              </a:rPr>
              <a:t>2025/11/4</a:t>
            </a:r>
            <a:endParaRPr lang="zh-CN" altLang="en-US" sz="2000" spc="300" dirty="0">
              <a:solidFill>
                <a:srgbClr val="0C4C8A"/>
              </a:solidFill>
              <a:latin typeface="Microsoft YaHei" panose="020B0503020204020204" pitchFamily="34" charset="-122"/>
              <a:ea typeface="思源宋体 CN Heavy" panose="02020900000000000000" pitchFamily="18" charset="-122"/>
              <a:sym typeface="方正宋刻本秀楷简体"/>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3ECFAA8-87DC-48AF-9273-0EC0FBC99815}"/>
              </a:ext>
            </a:extLst>
          </p:cNvPr>
          <p:cNvSpPr txBox="1"/>
          <p:nvPr/>
        </p:nvSpPr>
        <p:spPr>
          <a:xfrm>
            <a:off x="678760" y="344556"/>
            <a:ext cx="3140765" cy="369332"/>
          </a:xfrm>
          <a:prstGeom prst="rect">
            <a:avLst/>
          </a:prstGeom>
          <a:noFill/>
        </p:spPr>
        <p:txBody>
          <a:bodyPr wrap="square" rtlCol="0">
            <a:spAutoFit/>
          </a:bodyPr>
          <a:lstStyle/>
          <a:p>
            <a:r>
              <a:rPr lang="zh-CN" altLang="en-US" b="1" dirty="0">
                <a:solidFill>
                  <a:srgbClr val="800000"/>
                </a:solidFill>
                <a:effectLst/>
                <a:latin typeface="Consolas" panose="020B0609020204030204" pitchFamily="49" charset="0"/>
              </a:rPr>
              <a:t>检索、生成和</a:t>
            </a:r>
            <a:r>
              <a:rPr lang="en-US" altLang="zh-CN" b="1" dirty="0">
                <a:solidFill>
                  <a:srgbClr val="800000"/>
                </a:solidFill>
                <a:effectLst/>
                <a:latin typeface="Consolas" panose="020B0609020204030204" pitchFamily="49" charset="0"/>
              </a:rPr>
              <a:t>Agent</a:t>
            </a:r>
            <a:endParaRPr lang="en-US" altLang="zh-CN" b="0" dirty="0">
              <a:solidFill>
                <a:srgbClr val="000000"/>
              </a:solidFill>
              <a:effectLst/>
              <a:latin typeface="Consolas" panose="020B0609020204030204" pitchFamily="49" charset="0"/>
            </a:endParaRPr>
          </a:p>
        </p:txBody>
      </p:sp>
      <p:sp>
        <p:nvSpPr>
          <p:cNvPr id="4" name="文本框 3">
            <a:extLst>
              <a:ext uri="{FF2B5EF4-FFF2-40B4-BE49-F238E27FC236}">
                <a16:creationId xmlns:a16="http://schemas.microsoft.com/office/drawing/2014/main" id="{90ADF1BD-31E0-482A-92B2-7E3916860FEF}"/>
              </a:ext>
            </a:extLst>
          </p:cNvPr>
          <p:cNvSpPr txBox="1"/>
          <p:nvPr/>
        </p:nvSpPr>
        <p:spPr>
          <a:xfrm>
            <a:off x="409503" y="1085746"/>
            <a:ext cx="11372993" cy="2031325"/>
          </a:xfrm>
          <a:prstGeom prst="rect">
            <a:avLst/>
          </a:prstGeom>
          <a:noFill/>
        </p:spPr>
        <p:txBody>
          <a:bodyPr wrap="square" rtlCol="0">
            <a:spAutoFit/>
          </a:bodyPr>
          <a:lstStyle/>
          <a:p>
            <a:r>
              <a:rPr lang="en-US" altLang="zh-CN" b="0" dirty="0">
                <a:solidFill>
                  <a:srgbClr val="000000"/>
                </a:solidFill>
                <a:effectLst/>
                <a:latin typeface="Consolas" panose="020B0609020204030204" pitchFamily="49" charset="0"/>
              </a:rPr>
              <a:t>MCP </a:t>
            </a:r>
            <a:r>
              <a:rPr lang="zh-CN" altLang="en-US" b="0" dirty="0">
                <a:solidFill>
                  <a:srgbClr val="000000"/>
                </a:solidFill>
                <a:effectLst/>
                <a:latin typeface="Consolas" panose="020B0609020204030204" pitchFamily="49" charset="0"/>
              </a:rPr>
              <a:t>是 </a:t>
            </a:r>
            <a:r>
              <a:rPr lang="en-US" altLang="zh-CN" b="0" dirty="0">
                <a:solidFill>
                  <a:srgbClr val="000000"/>
                </a:solidFill>
                <a:effectLst/>
                <a:latin typeface="Consolas" panose="020B0609020204030204" pitchFamily="49" charset="0"/>
              </a:rPr>
              <a:t>Model Context Protocol </a:t>
            </a:r>
            <a:r>
              <a:rPr lang="zh-CN" altLang="en-US" b="0" dirty="0">
                <a:solidFill>
                  <a:srgbClr val="000000"/>
                </a:solidFill>
                <a:effectLst/>
                <a:latin typeface="Consolas" panose="020B0609020204030204" pitchFamily="49" charset="0"/>
              </a:rPr>
              <a:t>的缩写，</a:t>
            </a:r>
            <a:r>
              <a:rPr lang="en-US" altLang="zh-CN" b="0" dirty="0">
                <a:solidFill>
                  <a:srgbClr val="000000"/>
                </a:solidFill>
                <a:effectLst/>
                <a:latin typeface="Consolas" panose="020B0609020204030204" pitchFamily="49" charset="0"/>
              </a:rPr>
              <a:t>Model </a:t>
            </a:r>
            <a:r>
              <a:rPr lang="zh-CN" altLang="en-US" b="0" dirty="0">
                <a:solidFill>
                  <a:srgbClr val="000000"/>
                </a:solidFill>
                <a:effectLst/>
                <a:latin typeface="Consolas" panose="020B0609020204030204" pitchFamily="49" charset="0"/>
              </a:rPr>
              <a:t>强调</a:t>
            </a:r>
            <a:r>
              <a:rPr lang="zh-CN" altLang="en-US" b="1" dirty="0">
                <a:solidFill>
                  <a:srgbClr val="000000"/>
                </a:solidFill>
                <a:effectLst/>
                <a:latin typeface="Consolas" panose="020B0609020204030204" pitchFamily="49" charset="0"/>
              </a:rPr>
              <a:t>服务主体是 </a:t>
            </a:r>
            <a:r>
              <a:rPr lang="en-US" altLang="zh-CN" b="1" dirty="0">
                <a:solidFill>
                  <a:srgbClr val="000000"/>
                </a:solidFill>
                <a:effectLst/>
                <a:latin typeface="Consolas" panose="020B0609020204030204" pitchFamily="49" charset="0"/>
              </a:rPr>
              <a:t>LLM</a:t>
            </a:r>
            <a:r>
              <a:rPr lang="zh-CN" altLang="en-US" b="0" dirty="0">
                <a:solidFill>
                  <a:srgbClr val="000000"/>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Context </a:t>
            </a:r>
            <a:r>
              <a:rPr lang="zh-CN" altLang="en-US" b="0" dirty="0">
                <a:solidFill>
                  <a:srgbClr val="000000"/>
                </a:solidFill>
                <a:effectLst/>
                <a:latin typeface="Consolas" panose="020B0609020204030204" pitchFamily="49" charset="0"/>
              </a:rPr>
              <a:t>强调其</a:t>
            </a:r>
            <a:r>
              <a:rPr lang="zh-CN" altLang="en-US" b="1" dirty="0">
                <a:solidFill>
                  <a:srgbClr val="000000"/>
                </a:solidFill>
                <a:effectLst/>
                <a:latin typeface="Consolas" panose="020B0609020204030204" pitchFamily="49" charset="0"/>
              </a:rPr>
              <a:t>信息枢纽功能</a:t>
            </a:r>
            <a:r>
              <a:rPr lang="zh-CN" altLang="en-US" b="0" dirty="0">
                <a:solidFill>
                  <a:srgbClr val="000000"/>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Protocol </a:t>
            </a:r>
            <a:r>
              <a:rPr lang="zh-CN" altLang="en-US" b="0" dirty="0">
                <a:solidFill>
                  <a:srgbClr val="000000"/>
                </a:solidFill>
                <a:effectLst/>
                <a:latin typeface="Consolas" panose="020B0609020204030204" pitchFamily="49" charset="0"/>
              </a:rPr>
              <a:t>则</a:t>
            </a:r>
            <a:r>
              <a:rPr lang="zh-CN" altLang="en-US" b="1" dirty="0">
                <a:solidFill>
                  <a:srgbClr val="000000"/>
                </a:solidFill>
                <a:effectLst/>
                <a:latin typeface="Consolas" panose="020B0609020204030204" pitchFamily="49" charset="0"/>
              </a:rPr>
              <a:t>凸显信息交互的标准化特性</a:t>
            </a:r>
            <a:r>
              <a:rPr lang="zh-CN" altLang="en-US" b="0" dirty="0">
                <a:solidFill>
                  <a:srgbClr val="000000"/>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MCP </a:t>
            </a:r>
            <a:r>
              <a:rPr lang="zh-CN" altLang="en-US" b="0" dirty="0">
                <a:solidFill>
                  <a:srgbClr val="000000"/>
                </a:solidFill>
                <a:effectLst/>
                <a:latin typeface="Consolas" panose="020B0609020204030204" pitchFamily="49" charset="0"/>
              </a:rPr>
              <a:t>如同 </a:t>
            </a:r>
            <a:r>
              <a:rPr lang="en-US" altLang="zh-CN" b="0" dirty="0">
                <a:solidFill>
                  <a:srgbClr val="000000"/>
                </a:solidFill>
                <a:effectLst/>
                <a:latin typeface="Consolas" panose="020B0609020204030204" pitchFamily="49" charset="0"/>
              </a:rPr>
              <a:t>USB-C </a:t>
            </a:r>
            <a:r>
              <a:rPr lang="zh-CN" altLang="en-US" b="0" dirty="0">
                <a:solidFill>
                  <a:srgbClr val="000000"/>
                </a:solidFill>
                <a:effectLst/>
                <a:latin typeface="Consolas" panose="020B0609020204030204" pitchFamily="49" charset="0"/>
              </a:rPr>
              <a:t>接口般通过统一协议实现 </a:t>
            </a:r>
            <a:r>
              <a:rPr lang="en-US" altLang="zh-CN" b="0" dirty="0">
                <a:solidFill>
                  <a:srgbClr val="000000"/>
                </a:solidFill>
                <a:effectLst/>
                <a:latin typeface="Consolas" panose="020B0609020204030204" pitchFamily="49" charset="0"/>
              </a:rPr>
              <a:t>LLM </a:t>
            </a:r>
            <a:r>
              <a:rPr lang="zh-CN" altLang="en-US" b="0" dirty="0">
                <a:solidFill>
                  <a:srgbClr val="000000"/>
                </a:solidFill>
                <a:effectLst/>
                <a:latin typeface="Consolas" panose="020B0609020204030204" pitchFamily="49" charset="0"/>
              </a:rPr>
              <a:t>与外部能力的高效互联。</a:t>
            </a:r>
          </a:p>
          <a:p>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MCP</a:t>
            </a:r>
            <a:r>
              <a:rPr lang="zh-CN" altLang="en-US" b="0" dirty="0">
                <a:solidFill>
                  <a:srgbClr val="000000"/>
                </a:solidFill>
                <a:effectLst/>
                <a:latin typeface="Consolas" panose="020B0609020204030204" pitchFamily="49" charset="0"/>
              </a:rPr>
              <a:t>（模型上下文协议）是一种开源标准，用于将</a:t>
            </a:r>
            <a:r>
              <a:rPr lang="en-US" altLang="zh-CN" b="0" dirty="0">
                <a:solidFill>
                  <a:srgbClr val="000000"/>
                </a:solidFill>
                <a:effectLst/>
                <a:latin typeface="Consolas" panose="020B0609020204030204" pitchFamily="49" charset="0"/>
              </a:rPr>
              <a:t>AI</a:t>
            </a:r>
            <a:r>
              <a:rPr lang="zh-CN" altLang="en-US" b="0" dirty="0">
                <a:solidFill>
                  <a:srgbClr val="000000"/>
                </a:solidFill>
                <a:effectLst/>
                <a:latin typeface="Consolas" panose="020B0609020204030204" pitchFamily="49" charset="0"/>
              </a:rPr>
              <a:t>应用程序连接到外部系统。通过</a:t>
            </a:r>
            <a:r>
              <a:rPr lang="en-US" altLang="zh-CN" b="0" dirty="0">
                <a:solidFill>
                  <a:srgbClr val="000000"/>
                </a:solidFill>
                <a:effectLst/>
                <a:latin typeface="Consolas" panose="020B0609020204030204" pitchFamily="49" charset="0"/>
              </a:rPr>
              <a:t>MCP</a:t>
            </a:r>
            <a:r>
              <a:rPr lang="zh-CN" altLang="en-US" b="0" dirty="0">
                <a:solidFill>
                  <a:srgbClr val="000000"/>
                </a:solidFill>
                <a:effectLst/>
                <a:latin typeface="Consolas" panose="020B0609020204030204" pitchFamily="49" charset="0"/>
              </a:rPr>
              <a:t>，像</a:t>
            </a:r>
            <a:r>
              <a:rPr lang="en-US" altLang="zh-CN" b="0" dirty="0">
                <a:solidFill>
                  <a:srgbClr val="000000"/>
                </a:solidFill>
                <a:effectLst/>
                <a:latin typeface="Consolas" panose="020B0609020204030204" pitchFamily="49" charset="0"/>
              </a:rPr>
              <a:t>Claude</a:t>
            </a:r>
            <a:r>
              <a:rPr lang="zh-CN" altLang="en-US" b="0" dirty="0">
                <a:solidFill>
                  <a:srgbClr val="000000"/>
                </a:solidFill>
                <a:effectLst/>
                <a:latin typeface="Consolas" panose="020B0609020204030204" pitchFamily="49" charset="0"/>
              </a:rPr>
              <a:t>或</a:t>
            </a:r>
            <a:r>
              <a:rPr lang="en-US" altLang="zh-CN" b="0" dirty="0" err="1">
                <a:solidFill>
                  <a:srgbClr val="000000"/>
                </a:solidFill>
                <a:effectLst/>
                <a:latin typeface="Consolas" panose="020B0609020204030204" pitchFamily="49" charset="0"/>
              </a:rPr>
              <a:t>ChatGPT</a:t>
            </a:r>
            <a:r>
              <a:rPr lang="zh-CN" altLang="en-US" b="0" dirty="0">
                <a:solidFill>
                  <a:srgbClr val="000000"/>
                </a:solidFill>
                <a:effectLst/>
                <a:latin typeface="Consolas" panose="020B0609020204030204" pitchFamily="49" charset="0"/>
              </a:rPr>
              <a:t>这样的</a:t>
            </a:r>
            <a:r>
              <a:rPr lang="en-US" altLang="zh-CN" b="0" dirty="0">
                <a:solidFill>
                  <a:srgbClr val="000000"/>
                </a:solidFill>
                <a:effectLst/>
                <a:latin typeface="Consolas" panose="020B0609020204030204" pitchFamily="49" charset="0"/>
              </a:rPr>
              <a:t>AI</a:t>
            </a:r>
            <a:r>
              <a:rPr lang="zh-CN" altLang="en-US" b="0" dirty="0">
                <a:solidFill>
                  <a:srgbClr val="000000"/>
                </a:solidFill>
                <a:effectLst/>
                <a:latin typeface="Consolas" panose="020B0609020204030204" pitchFamily="49" charset="0"/>
              </a:rPr>
              <a:t>应用可以连接</a:t>
            </a:r>
            <a:r>
              <a:rPr lang="zh-CN" altLang="en-US" b="1" dirty="0">
                <a:solidFill>
                  <a:srgbClr val="000000"/>
                </a:solidFill>
                <a:effectLst/>
                <a:latin typeface="Consolas" panose="020B0609020204030204" pitchFamily="49" charset="0"/>
              </a:rPr>
              <a:t>数据源（如本地文件、数据库）、工具（如搜索引擎、计算器）和工作流（如专用提示词）</a:t>
            </a:r>
            <a:r>
              <a:rPr lang="zh-CN" altLang="en-US" b="0" dirty="0">
                <a:solidFill>
                  <a:srgbClr val="000000"/>
                </a:solidFill>
                <a:effectLst/>
                <a:latin typeface="Consolas" panose="020B0609020204030204" pitchFamily="49" charset="0"/>
              </a:rPr>
              <a:t>，从而获取关键信息并执行任务。</a:t>
            </a:r>
            <a:endParaRPr lang="en-US" altLang="zh-CN" b="0" dirty="0">
              <a:solidFill>
                <a:srgbClr val="000000"/>
              </a:solidFill>
              <a:effectLst/>
              <a:latin typeface="Consolas" panose="020B0609020204030204" pitchFamily="49" charset="0"/>
            </a:endParaRPr>
          </a:p>
        </p:txBody>
      </p:sp>
      <p:pic>
        <p:nvPicPr>
          <p:cNvPr id="1026" name="Picture 2">
            <a:extLst>
              <a:ext uri="{FF2B5EF4-FFF2-40B4-BE49-F238E27FC236}">
                <a16:creationId xmlns:a16="http://schemas.microsoft.com/office/drawing/2014/main" id="{25C4FFCF-169A-4B32-93C9-7034347830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1687" y="3196880"/>
            <a:ext cx="7911548" cy="3090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9093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3ECFAA8-87DC-48AF-9273-0EC0FBC99815}"/>
              </a:ext>
            </a:extLst>
          </p:cNvPr>
          <p:cNvSpPr txBox="1"/>
          <p:nvPr/>
        </p:nvSpPr>
        <p:spPr>
          <a:xfrm>
            <a:off x="678760" y="344556"/>
            <a:ext cx="3140765" cy="369332"/>
          </a:xfrm>
          <a:prstGeom prst="rect">
            <a:avLst/>
          </a:prstGeom>
          <a:noFill/>
        </p:spPr>
        <p:txBody>
          <a:bodyPr wrap="square" rtlCol="0">
            <a:spAutoFit/>
          </a:bodyPr>
          <a:lstStyle/>
          <a:p>
            <a:r>
              <a:rPr lang="en-US" altLang="zh-CN" b="1" dirty="0">
                <a:solidFill>
                  <a:srgbClr val="800000"/>
                </a:solidFill>
                <a:effectLst/>
                <a:latin typeface="Consolas" panose="020B0609020204030204" pitchFamily="49" charset="0"/>
              </a:rPr>
              <a:t>MCP</a:t>
            </a:r>
            <a:r>
              <a:rPr lang="zh-CN" altLang="en-US" b="1" dirty="0">
                <a:solidFill>
                  <a:srgbClr val="800000"/>
                </a:solidFill>
                <a:effectLst/>
                <a:latin typeface="Consolas" panose="020B0609020204030204" pitchFamily="49" charset="0"/>
              </a:rPr>
              <a:t>规定了什么？</a:t>
            </a:r>
            <a:endParaRPr lang="en-US" altLang="zh-CN" b="0" dirty="0">
              <a:solidFill>
                <a:srgbClr val="000000"/>
              </a:solidFill>
              <a:effectLst/>
              <a:latin typeface="Consolas" panose="020B0609020204030204" pitchFamily="49" charset="0"/>
            </a:endParaRPr>
          </a:p>
        </p:txBody>
      </p:sp>
      <p:sp>
        <p:nvSpPr>
          <p:cNvPr id="4" name="文本框 3">
            <a:extLst>
              <a:ext uri="{FF2B5EF4-FFF2-40B4-BE49-F238E27FC236}">
                <a16:creationId xmlns:a16="http://schemas.microsoft.com/office/drawing/2014/main" id="{90ADF1BD-31E0-482A-92B2-7E3916860FEF}"/>
              </a:ext>
            </a:extLst>
          </p:cNvPr>
          <p:cNvSpPr txBox="1"/>
          <p:nvPr/>
        </p:nvSpPr>
        <p:spPr>
          <a:xfrm>
            <a:off x="409503" y="1085746"/>
            <a:ext cx="11372993" cy="3416320"/>
          </a:xfrm>
          <a:prstGeom prst="rect">
            <a:avLst/>
          </a:prstGeom>
          <a:noFill/>
        </p:spPr>
        <p:txBody>
          <a:bodyPr wrap="square" rtlCol="0">
            <a:spAutoFit/>
          </a:bodyPr>
          <a:lstStyle/>
          <a:p>
            <a:r>
              <a:rPr lang="en-US" altLang="zh-CN" b="0" dirty="0">
                <a:solidFill>
                  <a:srgbClr val="000000"/>
                </a:solidFill>
                <a:effectLst/>
                <a:latin typeface="Consolas" panose="020B0609020204030204" pitchFamily="49" charset="0"/>
              </a:rPr>
              <a:t>MCP</a:t>
            </a:r>
            <a:r>
              <a:rPr lang="zh-CN" altLang="en-US" b="0" dirty="0">
                <a:solidFill>
                  <a:srgbClr val="000000"/>
                </a:solidFill>
                <a:effectLst/>
                <a:latin typeface="Consolas" panose="020B0609020204030204" pitchFamily="49" charset="0"/>
              </a:rPr>
              <a:t>规定的核心内容：</a:t>
            </a:r>
            <a:endParaRPr lang="en-US" altLang="zh-CN" b="0" dirty="0">
              <a:solidFill>
                <a:srgbClr val="000000"/>
              </a:solidFill>
              <a:effectLst/>
              <a:latin typeface="Consolas" panose="020B0609020204030204" pitchFamily="49" charset="0"/>
            </a:endParaRPr>
          </a:p>
          <a:p>
            <a:endParaRPr lang="zh-CN" altLang="en-US" b="0" dirty="0">
              <a:solidFill>
                <a:srgbClr val="000000"/>
              </a:solidFill>
              <a:effectLst/>
              <a:latin typeface="Consolas" panose="020B0609020204030204" pitchFamily="49" charset="0"/>
            </a:endParaRPr>
          </a:p>
          <a:p>
            <a:r>
              <a:rPr lang="zh-CN" altLang="en-US" b="0" dirty="0">
                <a:solidFill>
                  <a:srgbClr val="000000"/>
                </a:solidFill>
                <a:effectLst/>
                <a:latin typeface="Consolas" panose="020B0609020204030204" pitchFamily="49" charset="0"/>
              </a:rPr>
              <a:t>协议栈：两层设计</a:t>
            </a:r>
            <a:endParaRPr lang="en-US" altLang="zh-CN" b="0" dirty="0">
              <a:solidFill>
                <a:srgbClr val="000000"/>
              </a:solidFill>
              <a:effectLst/>
              <a:latin typeface="Consolas" panose="020B0609020204030204" pitchFamily="49" charset="0"/>
            </a:endParaRPr>
          </a:p>
          <a:p>
            <a:endParaRPr lang="zh-CN" altLang="en-US" b="0" dirty="0">
              <a:solidFill>
                <a:srgbClr val="000000"/>
              </a:solidFill>
              <a:effectLst/>
              <a:latin typeface="Consolas" panose="020B0609020204030204" pitchFamily="49" charset="0"/>
            </a:endParaRPr>
          </a:p>
          <a:p>
            <a:r>
              <a:rPr lang="zh-CN" altLang="en-US" b="0" dirty="0">
                <a:solidFill>
                  <a:srgbClr val="000000"/>
                </a:solidFill>
                <a:effectLst/>
                <a:latin typeface="Consolas" panose="020B0609020204030204" pitchFamily="49" charset="0"/>
              </a:rPr>
              <a:t>数据层：设计为基于 </a:t>
            </a:r>
            <a:r>
              <a:rPr lang="en-US" altLang="zh-CN" b="0" dirty="0">
                <a:solidFill>
                  <a:srgbClr val="000000"/>
                </a:solidFill>
                <a:effectLst/>
                <a:latin typeface="Consolas" panose="020B0609020204030204" pitchFamily="49" charset="0"/>
              </a:rPr>
              <a:t>JSON-RPC 2.0 </a:t>
            </a:r>
            <a:r>
              <a:rPr lang="zh-CN" altLang="en-US" b="0" dirty="0">
                <a:solidFill>
                  <a:srgbClr val="000000"/>
                </a:solidFill>
                <a:effectLst/>
                <a:latin typeface="Consolas" panose="020B0609020204030204" pitchFamily="49" charset="0"/>
              </a:rPr>
              <a:t>的消息</a:t>
            </a:r>
            <a:r>
              <a:rPr lang="en-US" altLang="zh-CN" b="0" dirty="0">
                <a:solidFill>
                  <a:srgbClr val="000000"/>
                </a:solidFill>
                <a:effectLst/>
                <a:latin typeface="Consolas" panose="020B0609020204030204" pitchFamily="49" charset="0"/>
              </a:rPr>
              <a:t>/</a:t>
            </a:r>
            <a:r>
              <a:rPr lang="zh-CN" altLang="en-US" b="0" dirty="0">
                <a:solidFill>
                  <a:srgbClr val="000000"/>
                </a:solidFill>
                <a:effectLst/>
                <a:latin typeface="Consolas" panose="020B0609020204030204" pitchFamily="49" charset="0"/>
              </a:rPr>
              <a:t>方法</a:t>
            </a:r>
            <a:r>
              <a:rPr lang="en-US" altLang="zh-CN" b="0" dirty="0">
                <a:solidFill>
                  <a:srgbClr val="000000"/>
                </a:solidFill>
                <a:effectLst/>
                <a:latin typeface="Consolas" panose="020B0609020204030204" pitchFamily="49" charset="0"/>
              </a:rPr>
              <a:t>/</a:t>
            </a:r>
            <a:r>
              <a:rPr lang="zh-CN" altLang="en-US" b="0" dirty="0">
                <a:solidFill>
                  <a:srgbClr val="000000"/>
                </a:solidFill>
                <a:effectLst/>
                <a:latin typeface="Consolas" panose="020B0609020204030204" pitchFamily="49" charset="0"/>
              </a:rPr>
              <a:t>通知，定义了会话生命周期、能力协商、核心原语（</a:t>
            </a:r>
            <a:r>
              <a:rPr lang="en-US" altLang="zh-CN" b="0" dirty="0">
                <a:solidFill>
                  <a:srgbClr val="000000"/>
                </a:solidFill>
                <a:effectLst/>
                <a:latin typeface="Consolas" panose="020B0609020204030204" pitchFamily="49" charset="0"/>
              </a:rPr>
              <a:t>tools/resources/prompts</a:t>
            </a:r>
            <a:r>
              <a:rPr lang="zh-CN" altLang="en-US" b="0" dirty="0">
                <a:solidFill>
                  <a:srgbClr val="000000"/>
                </a:solidFill>
                <a:effectLst/>
                <a:latin typeface="Consolas" panose="020B0609020204030204" pitchFamily="49" charset="0"/>
              </a:rPr>
              <a:t>）、通知与长任务等。这是</a:t>
            </a:r>
            <a:r>
              <a:rPr lang="en-US" altLang="zh-CN" b="0" dirty="0">
                <a:solidFill>
                  <a:srgbClr val="000000"/>
                </a:solidFill>
                <a:effectLst/>
                <a:latin typeface="Consolas" panose="020B0609020204030204" pitchFamily="49" charset="0"/>
              </a:rPr>
              <a:t>MCP Client</a:t>
            </a:r>
            <a:r>
              <a:rPr lang="zh-CN" altLang="en-US" b="0" dirty="0">
                <a:solidFill>
                  <a:srgbClr val="000000"/>
                </a:solidFill>
                <a:effectLst/>
                <a:latin typeface="Consolas" panose="020B0609020204030204" pitchFamily="49" charset="0"/>
              </a:rPr>
              <a:t>与</a:t>
            </a:r>
            <a:r>
              <a:rPr lang="en-US" altLang="zh-CN" b="0" dirty="0">
                <a:solidFill>
                  <a:srgbClr val="000000"/>
                </a:solidFill>
                <a:effectLst/>
                <a:latin typeface="Consolas" panose="020B0609020204030204" pitchFamily="49" charset="0"/>
              </a:rPr>
              <a:t>MCP Server</a:t>
            </a:r>
            <a:r>
              <a:rPr lang="zh-CN" altLang="en-US" b="0" dirty="0">
                <a:solidFill>
                  <a:srgbClr val="000000"/>
                </a:solidFill>
                <a:effectLst/>
                <a:latin typeface="Consolas" panose="020B0609020204030204" pitchFamily="49" charset="0"/>
              </a:rPr>
              <a:t>通信的数据格式。</a:t>
            </a:r>
            <a:endParaRPr lang="en-US" altLang="zh-CN" b="0" dirty="0">
              <a:solidFill>
                <a:srgbClr val="000000"/>
              </a:solidFill>
              <a:effectLst/>
              <a:latin typeface="Consolas" panose="020B0609020204030204" pitchFamily="49" charset="0"/>
            </a:endParaRPr>
          </a:p>
          <a:p>
            <a:endParaRPr lang="zh-CN" altLang="en-US" b="0" dirty="0">
              <a:solidFill>
                <a:srgbClr val="000000"/>
              </a:solidFill>
              <a:effectLst/>
              <a:latin typeface="Consolas" panose="020B0609020204030204" pitchFamily="49" charset="0"/>
            </a:endParaRPr>
          </a:p>
          <a:p>
            <a:r>
              <a:rPr lang="zh-CN" altLang="en-US" b="0" dirty="0">
                <a:solidFill>
                  <a:srgbClr val="000000"/>
                </a:solidFill>
                <a:effectLst/>
                <a:latin typeface="Consolas" panose="020B0609020204030204" pitchFamily="49" charset="0"/>
              </a:rPr>
              <a:t>传输层：定义把 </a:t>
            </a:r>
            <a:r>
              <a:rPr lang="en-US" altLang="zh-CN" b="0" dirty="0">
                <a:solidFill>
                  <a:srgbClr val="000000"/>
                </a:solidFill>
                <a:effectLst/>
                <a:latin typeface="Consolas" panose="020B0609020204030204" pitchFamily="49" charset="0"/>
              </a:rPr>
              <a:t>JSON-RPC </a:t>
            </a:r>
            <a:r>
              <a:rPr lang="zh-CN" altLang="en-US" b="0" dirty="0">
                <a:solidFill>
                  <a:srgbClr val="000000"/>
                </a:solidFill>
                <a:effectLst/>
                <a:latin typeface="Consolas" panose="020B0609020204030204" pitchFamily="49" charset="0"/>
              </a:rPr>
              <a:t>消息在进程间或网络上传输的方式。当前支持 </a:t>
            </a:r>
            <a:r>
              <a:rPr lang="en-US" altLang="zh-CN" b="0" dirty="0" err="1">
                <a:solidFill>
                  <a:srgbClr val="000000"/>
                </a:solidFill>
                <a:effectLst/>
                <a:latin typeface="Consolas" panose="020B0609020204030204" pitchFamily="49" charset="0"/>
              </a:rPr>
              <a:t>stdio</a:t>
            </a:r>
            <a:r>
              <a:rPr lang="en-US" altLang="zh-CN" b="0" dirty="0">
                <a:solidFill>
                  <a:srgbClr val="000000"/>
                </a:solidFill>
                <a:effectLst/>
                <a:latin typeface="Consolas" panose="020B0609020204030204" pitchFamily="49" charset="0"/>
              </a:rPr>
              <a:t> </a:t>
            </a:r>
            <a:r>
              <a:rPr lang="zh-CN" altLang="en-US" b="0" dirty="0">
                <a:solidFill>
                  <a:srgbClr val="000000"/>
                </a:solidFill>
                <a:effectLst/>
                <a:latin typeface="Consolas" panose="020B0609020204030204" pitchFamily="49" charset="0"/>
              </a:rPr>
              <a:t>和 </a:t>
            </a:r>
            <a:r>
              <a:rPr lang="en-US" altLang="zh-CN" b="0" dirty="0" err="1">
                <a:solidFill>
                  <a:srgbClr val="000000"/>
                </a:solidFill>
                <a:effectLst/>
                <a:latin typeface="Consolas" panose="020B0609020204030204" pitchFamily="49" charset="0"/>
              </a:rPr>
              <a:t>Streamable</a:t>
            </a:r>
            <a:r>
              <a:rPr lang="en-US" altLang="zh-CN" b="0" dirty="0">
                <a:solidFill>
                  <a:srgbClr val="000000"/>
                </a:solidFill>
                <a:effectLst/>
                <a:latin typeface="Consolas" panose="020B0609020204030204" pitchFamily="49" charset="0"/>
              </a:rPr>
              <a:t> HTTP/SSE </a:t>
            </a:r>
            <a:r>
              <a:rPr lang="zh-CN" altLang="en-US" b="0" dirty="0">
                <a:solidFill>
                  <a:srgbClr val="000000"/>
                </a:solidFill>
                <a:effectLst/>
                <a:latin typeface="Consolas" panose="020B0609020204030204" pitchFamily="49" charset="0"/>
              </a:rPr>
              <a:t>等，包括分帧与认证建议。</a:t>
            </a:r>
            <a:endParaRPr lang="en-US" altLang="zh-CN" b="0" dirty="0">
              <a:solidFill>
                <a:srgbClr val="000000"/>
              </a:solidFill>
              <a:effectLst/>
              <a:latin typeface="Consolas" panose="020B0609020204030204" pitchFamily="49" charset="0"/>
            </a:endParaRPr>
          </a:p>
          <a:p>
            <a:endParaRPr lang="zh-CN" altLang="en-US" b="0" dirty="0">
              <a:solidFill>
                <a:srgbClr val="000000"/>
              </a:solidFill>
              <a:effectLst/>
              <a:latin typeface="Consolas" panose="020B0609020204030204" pitchFamily="49" charset="0"/>
            </a:endParaRPr>
          </a:p>
          <a:p>
            <a:r>
              <a:rPr lang="zh-CN" altLang="en-US" b="0" dirty="0">
                <a:solidFill>
                  <a:srgbClr val="000000"/>
                </a:solidFill>
                <a:effectLst/>
                <a:latin typeface="Consolas" panose="020B0609020204030204" pitchFamily="49" charset="0"/>
              </a:rPr>
              <a:t>会话与生命周期：规定了 </a:t>
            </a:r>
            <a:r>
              <a:rPr lang="en-US" altLang="zh-CN" b="0" dirty="0">
                <a:solidFill>
                  <a:srgbClr val="000000"/>
                </a:solidFill>
                <a:effectLst/>
                <a:latin typeface="Consolas" panose="020B0609020204030204" pitchFamily="49" charset="0"/>
              </a:rPr>
              <a:t>initialize </a:t>
            </a:r>
            <a:r>
              <a:rPr lang="zh-CN" altLang="en-US" b="0" dirty="0">
                <a:solidFill>
                  <a:srgbClr val="000000"/>
                </a:solidFill>
                <a:effectLst/>
                <a:latin typeface="Consolas" panose="020B0609020204030204" pitchFamily="49" charset="0"/>
              </a:rPr>
              <a:t>握手（协议版本、</a:t>
            </a:r>
            <a:r>
              <a:rPr lang="en-US" altLang="zh-CN" b="0" dirty="0">
                <a:solidFill>
                  <a:srgbClr val="000000"/>
                </a:solidFill>
                <a:effectLst/>
                <a:latin typeface="Consolas" panose="020B0609020204030204" pitchFamily="49" charset="0"/>
              </a:rPr>
              <a:t>capabilities </a:t>
            </a:r>
            <a:r>
              <a:rPr lang="zh-CN" altLang="en-US" b="0" dirty="0">
                <a:solidFill>
                  <a:srgbClr val="000000"/>
                </a:solidFill>
                <a:effectLst/>
                <a:latin typeface="Consolas" panose="020B0609020204030204" pitchFamily="49" charset="0"/>
              </a:rPr>
              <a:t>协商、</a:t>
            </a:r>
            <a:r>
              <a:rPr lang="en-US" altLang="zh-CN" b="0" dirty="0" err="1">
                <a:solidFill>
                  <a:srgbClr val="000000"/>
                </a:solidFill>
                <a:effectLst/>
                <a:latin typeface="Consolas" panose="020B0609020204030204" pitchFamily="49" charset="0"/>
              </a:rPr>
              <a:t>clientInfo</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serverInfo</a:t>
            </a:r>
            <a:r>
              <a:rPr lang="zh-CN" altLang="en-US" b="0" dirty="0">
                <a:solidFill>
                  <a:srgbClr val="000000"/>
                </a:solidFill>
                <a:effectLst/>
                <a:latin typeface="Consolas" panose="020B0609020204030204" pitchFamily="49" charset="0"/>
              </a:rPr>
              <a:t>）、就绪通知、终止流程等。</a:t>
            </a:r>
          </a:p>
        </p:txBody>
      </p:sp>
    </p:spTree>
    <p:extLst>
      <p:ext uri="{BB962C8B-B14F-4D97-AF65-F5344CB8AC3E}">
        <p14:creationId xmlns:p14="http://schemas.microsoft.com/office/powerpoint/2010/main" val="3727092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3ECFAA8-87DC-48AF-9273-0EC0FBC99815}"/>
              </a:ext>
            </a:extLst>
          </p:cNvPr>
          <p:cNvSpPr txBox="1"/>
          <p:nvPr/>
        </p:nvSpPr>
        <p:spPr>
          <a:xfrm>
            <a:off x="678760" y="344556"/>
            <a:ext cx="3140765" cy="369332"/>
          </a:xfrm>
          <a:prstGeom prst="rect">
            <a:avLst/>
          </a:prstGeom>
          <a:noFill/>
        </p:spPr>
        <p:txBody>
          <a:bodyPr wrap="square" rtlCol="0">
            <a:spAutoFit/>
          </a:bodyPr>
          <a:lstStyle/>
          <a:p>
            <a:r>
              <a:rPr lang="en-US" altLang="zh-CN" b="1" dirty="0">
                <a:solidFill>
                  <a:srgbClr val="800000"/>
                </a:solidFill>
                <a:effectLst/>
                <a:latin typeface="Consolas" panose="020B0609020204030204" pitchFamily="49" charset="0"/>
              </a:rPr>
              <a:t>MCP</a:t>
            </a:r>
            <a:r>
              <a:rPr lang="zh-CN" altLang="en-US" b="1" dirty="0">
                <a:solidFill>
                  <a:srgbClr val="800000"/>
                </a:solidFill>
                <a:effectLst/>
                <a:latin typeface="Consolas" panose="020B0609020204030204" pitchFamily="49" charset="0"/>
              </a:rPr>
              <a:t>规定了什么？</a:t>
            </a:r>
            <a:endParaRPr lang="en-US" altLang="zh-CN" b="0" dirty="0">
              <a:solidFill>
                <a:srgbClr val="000000"/>
              </a:solidFill>
              <a:effectLst/>
              <a:latin typeface="Consolas" panose="020B0609020204030204" pitchFamily="49" charset="0"/>
            </a:endParaRPr>
          </a:p>
        </p:txBody>
      </p:sp>
      <p:sp>
        <p:nvSpPr>
          <p:cNvPr id="4" name="文本框 3">
            <a:extLst>
              <a:ext uri="{FF2B5EF4-FFF2-40B4-BE49-F238E27FC236}">
                <a16:creationId xmlns:a16="http://schemas.microsoft.com/office/drawing/2014/main" id="{90ADF1BD-31E0-482A-92B2-7E3916860FEF}"/>
              </a:ext>
            </a:extLst>
          </p:cNvPr>
          <p:cNvSpPr txBox="1"/>
          <p:nvPr/>
        </p:nvSpPr>
        <p:spPr>
          <a:xfrm>
            <a:off x="409503" y="1085746"/>
            <a:ext cx="11372993" cy="3970318"/>
          </a:xfrm>
          <a:prstGeom prst="rect">
            <a:avLst/>
          </a:prstGeom>
          <a:noFill/>
        </p:spPr>
        <p:txBody>
          <a:bodyPr wrap="square" rtlCol="0">
            <a:spAutoFit/>
          </a:bodyPr>
          <a:lstStyle/>
          <a:p>
            <a:r>
              <a:rPr lang="zh-CN" altLang="en-US" b="0" dirty="0">
                <a:solidFill>
                  <a:srgbClr val="000000"/>
                </a:solidFill>
                <a:effectLst/>
                <a:latin typeface="Consolas" panose="020B0609020204030204" pitchFamily="49" charset="0"/>
              </a:rPr>
              <a:t>三个服务器端的基本要素</a:t>
            </a:r>
            <a:endParaRPr lang="en-US" altLang="zh-CN" b="0" dirty="0">
              <a:solidFill>
                <a:srgbClr val="000000"/>
              </a:solidFill>
              <a:effectLst/>
              <a:latin typeface="Consolas" panose="020B0609020204030204" pitchFamily="49" charset="0"/>
            </a:endParaRPr>
          </a:p>
          <a:p>
            <a:r>
              <a:rPr lang="zh-CN" altLang="en-US"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Tools — </a:t>
            </a:r>
            <a:r>
              <a:rPr lang="zh-CN" altLang="en-US" b="0" dirty="0">
                <a:solidFill>
                  <a:srgbClr val="000000"/>
                </a:solidFill>
                <a:effectLst/>
                <a:latin typeface="Consolas" panose="020B0609020204030204" pitchFamily="49" charset="0"/>
              </a:rPr>
              <a:t>可执行的函数</a:t>
            </a:r>
            <a:r>
              <a:rPr lang="en-US" altLang="zh-CN" b="0" dirty="0">
                <a:solidFill>
                  <a:srgbClr val="000000"/>
                </a:solidFill>
                <a:effectLst/>
                <a:latin typeface="Consolas" panose="020B0609020204030204" pitchFamily="49" charset="0"/>
              </a:rPr>
              <a:t>/</a:t>
            </a:r>
            <a:r>
              <a:rPr lang="zh-CN" altLang="en-US" b="0" dirty="0">
                <a:solidFill>
                  <a:srgbClr val="000000"/>
                </a:solidFill>
                <a:effectLst/>
                <a:latin typeface="Consolas" panose="020B0609020204030204" pitchFamily="49" charset="0"/>
              </a:rPr>
              <a:t>动作（发现：</a:t>
            </a:r>
            <a:r>
              <a:rPr lang="en-US" altLang="zh-CN" b="0" dirty="0">
                <a:solidFill>
                  <a:srgbClr val="000000"/>
                </a:solidFill>
                <a:effectLst/>
                <a:latin typeface="Consolas" panose="020B0609020204030204" pitchFamily="49" charset="0"/>
              </a:rPr>
              <a:t>tools/list</a:t>
            </a:r>
            <a:r>
              <a:rPr lang="zh-CN" altLang="en-US" b="0" dirty="0">
                <a:solidFill>
                  <a:srgbClr val="000000"/>
                </a:solidFill>
                <a:effectLst/>
                <a:latin typeface="Consolas" panose="020B0609020204030204" pitchFamily="49" charset="0"/>
              </a:rPr>
              <a:t>，执行：</a:t>
            </a:r>
            <a:r>
              <a:rPr lang="en-US" altLang="zh-CN" b="0" dirty="0">
                <a:solidFill>
                  <a:srgbClr val="000000"/>
                </a:solidFill>
                <a:effectLst/>
                <a:latin typeface="Consolas" panose="020B0609020204030204" pitchFamily="49" charset="0"/>
              </a:rPr>
              <a:t>tools/call</a:t>
            </a:r>
            <a:r>
              <a:rPr lang="zh-CN" altLang="en-US" b="0" dirty="0">
                <a:solidFill>
                  <a:srgbClr val="000000"/>
                </a:solidFill>
                <a:effectLst/>
                <a:latin typeface="Consolas" panose="020B0609020204030204" pitchFamily="49" charset="0"/>
              </a:rPr>
              <a:t>）。</a:t>
            </a:r>
            <a:endParaRPr lang="en-US" altLang="zh-CN" b="0" dirty="0">
              <a:solidFill>
                <a:srgbClr val="000000"/>
              </a:solidFill>
              <a:effectLst/>
              <a:latin typeface="Consolas" panose="020B0609020204030204" pitchFamily="49" charset="0"/>
            </a:endParaRPr>
          </a:p>
          <a:p>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Resources — </a:t>
            </a:r>
            <a:r>
              <a:rPr lang="zh-CN" altLang="en-US" b="0" dirty="0">
                <a:solidFill>
                  <a:srgbClr val="000000"/>
                </a:solidFill>
                <a:effectLst/>
                <a:latin typeface="Consolas" panose="020B0609020204030204" pitchFamily="49" charset="0"/>
              </a:rPr>
              <a:t>可读取的上下文数据（例如文件、数据库记录、索引片段），有 </a:t>
            </a:r>
            <a:r>
              <a:rPr lang="en-US" altLang="zh-CN" b="0" dirty="0">
                <a:solidFill>
                  <a:srgbClr val="000000"/>
                </a:solidFill>
                <a:effectLst/>
                <a:latin typeface="Consolas" panose="020B0609020204030204" pitchFamily="49" charset="0"/>
              </a:rPr>
              <a:t>resources/list / resources/read </a:t>
            </a:r>
            <a:r>
              <a:rPr lang="zh-CN" altLang="en-US" b="0" dirty="0">
                <a:solidFill>
                  <a:srgbClr val="000000"/>
                </a:solidFill>
                <a:effectLst/>
                <a:latin typeface="Consolas" panose="020B0609020204030204" pitchFamily="49" charset="0"/>
              </a:rPr>
              <a:t>等接口。</a:t>
            </a:r>
            <a:endParaRPr lang="en-US" altLang="zh-CN" b="0" dirty="0">
              <a:solidFill>
                <a:srgbClr val="000000"/>
              </a:solidFill>
              <a:effectLst/>
              <a:latin typeface="Consolas" panose="020B0609020204030204" pitchFamily="49" charset="0"/>
            </a:endParaRPr>
          </a:p>
          <a:p>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Prompts — </a:t>
            </a:r>
            <a:r>
              <a:rPr lang="zh-CN" altLang="en-US" b="0" dirty="0">
                <a:solidFill>
                  <a:srgbClr val="000000"/>
                </a:solidFill>
                <a:effectLst/>
                <a:latin typeface="Consolas" panose="020B0609020204030204" pitchFamily="49" charset="0"/>
              </a:rPr>
              <a:t>复用的提示模板或 </a:t>
            </a:r>
            <a:r>
              <a:rPr lang="en-US" altLang="zh-CN" b="0" dirty="0">
                <a:solidFill>
                  <a:srgbClr val="000000"/>
                </a:solidFill>
                <a:effectLst/>
                <a:latin typeface="Consolas" panose="020B0609020204030204" pitchFamily="49" charset="0"/>
              </a:rPr>
              <a:t>few-shot </a:t>
            </a:r>
            <a:r>
              <a:rPr lang="zh-CN" altLang="en-US" b="0" dirty="0">
                <a:solidFill>
                  <a:srgbClr val="000000"/>
                </a:solidFill>
                <a:effectLst/>
                <a:latin typeface="Consolas" panose="020B0609020204030204" pitchFamily="49" charset="0"/>
              </a:rPr>
              <a:t>示例，可供 </a:t>
            </a:r>
            <a:r>
              <a:rPr lang="en-US" altLang="zh-CN" b="0" dirty="0">
                <a:solidFill>
                  <a:srgbClr val="000000"/>
                </a:solidFill>
                <a:effectLst/>
                <a:latin typeface="Consolas" panose="020B0609020204030204" pitchFamily="49" charset="0"/>
              </a:rPr>
              <a:t>client/agent </a:t>
            </a:r>
            <a:r>
              <a:rPr lang="zh-CN" altLang="en-US" b="0" dirty="0">
                <a:solidFill>
                  <a:srgbClr val="000000"/>
                </a:solidFill>
                <a:effectLst/>
                <a:latin typeface="Consolas" panose="020B0609020204030204" pitchFamily="49" charset="0"/>
              </a:rPr>
              <a:t>使用。</a:t>
            </a:r>
            <a:endParaRPr lang="en-US" altLang="zh-CN" b="0" dirty="0">
              <a:solidFill>
                <a:srgbClr val="000000"/>
              </a:solidFill>
              <a:effectLst/>
              <a:latin typeface="Consolas" panose="020B0609020204030204" pitchFamily="49" charset="0"/>
            </a:endParaRPr>
          </a:p>
          <a:p>
            <a:endParaRPr lang="zh-CN" altLang="en-US" b="0" dirty="0">
              <a:solidFill>
                <a:srgbClr val="000000"/>
              </a:solidFill>
              <a:effectLst/>
              <a:latin typeface="Consolas" panose="020B0609020204030204" pitchFamily="49" charset="0"/>
            </a:endParaRPr>
          </a:p>
          <a:p>
            <a:r>
              <a:rPr lang="zh-CN" altLang="en-US" b="0" dirty="0">
                <a:solidFill>
                  <a:srgbClr val="000000"/>
                </a:solidFill>
                <a:effectLst/>
                <a:latin typeface="Consolas" panose="020B0609020204030204" pitchFamily="49" charset="0"/>
              </a:rPr>
              <a:t>客户端暴露能力：使 </a:t>
            </a:r>
            <a:r>
              <a:rPr lang="en-US" altLang="zh-CN" b="0" dirty="0">
                <a:solidFill>
                  <a:srgbClr val="000000"/>
                </a:solidFill>
                <a:effectLst/>
                <a:latin typeface="Consolas" panose="020B0609020204030204" pitchFamily="49" charset="0"/>
              </a:rPr>
              <a:t>MCP server </a:t>
            </a:r>
            <a:r>
              <a:rPr lang="zh-CN" altLang="en-US" b="0" dirty="0">
                <a:solidFill>
                  <a:srgbClr val="000000"/>
                </a:solidFill>
                <a:effectLst/>
                <a:latin typeface="Consolas" panose="020B0609020204030204" pitchFamily="49" charset="0"/>
              </a:rPr>
              <a:t>可以请求客户端进行</a:t>
            </a:r>
            <a:r>
              <a:rPr lang="zh-CN" altLang="en-US" b="1" dirty="0">
                <a:solidFill>
                  <a:srgbClr val="000000"/>
                </a:solidFill>
                <a:effectLst/>
                <a:latin typeface="Consolas" panose="020B0609020204030204" pitchFamily="49" charset="0"/>
              </a:rPr>
              <a:t>模型采样</a:t>
            </a:r>
            <a:r>
              <a:rPr lang="zh-CN" altLang="en-US" b="0" dirty="0">
                <a:solidFill>
                  <a:srgbClr val="000000"/>
                </a:solidFill>
                <a:effectLst/>
                <a:latin typeface="Consolas" panose="020B0609020204030204" pitchFamily="49" charset="0"/>
              </a:rPr>
              <a:t>、进行</a:t>
            </a:r>
            <a:r>
              <a:rPr lang="zh-CN" altLang="en-US" b="1" dirty="0">
                <a:solidFill>
                  <a:srgbClr val="000000"/>
                </a:solidFill>
                <a:effectLst/>
                <a:latin typeface="Consolas" panose="020B0609020204030204" pitchFamily="49" charset="0"/>
              </a:rPr>
              <a:t>用户提示、或记录日志。</a:t>
            </a:r>
            <a:endParaRPr lang="en-US" altLang="zh-CN" b="1" dirty="0">
              <a:solidFill>
                <a:srgbClr val="000000"/>
              </a:solidFill>
              <a:effectLst/>
              <a:latin typeface="Consolas" panose="020B0609020204030204" pitchFamily="49" charset="0"/>
            </a:endParaRPr>
          </a:p>
          <a:p>
            <a:endParaRPr lang="zh-CN" altLang="en-US" b="0" dirty="0">
              <a:solidFill>
                <a:srgbClr val="000000"/>
              </a:solidFill>
              <a:effectLst/>
              <a:latin typeface="Consolas" panose="020B0609020204030204" pitchFamily="49" charset="0"/>
            </a:endParaRPr>
          </a:p>
          <a:p>
            <a:r>
              <a:rPr lang="zh-CN" altLang="en-US" b="0" dirty="0">
                <a:solidFill>
                  <a:srgbClr val="000000"/>
                </a:solidFill>
                <a:effectLst/>
                <a:latin typeface="Consolas" panose="020B0609020204030204" pitchFamily="49" charset="0"/>
              </a:rPr>
              <a:t>总而言之</a:t>
            </a:r>
            <a:r>
              <a:rPr lang="en-US" altLang="zh-CN" b="0" dirty="0">
                <a:solidFill>
                  <a:srgbClr val="000000"/>
                </a:solidFill>
                <a:effectLst/>
                <a:latin typeface="Consolas" panose="020B0609020204030204" pitchFamily="49" charset="0"/>
              </a:rPr>
              <a:t>,MCP</a:t>
            </a:r>
            <a:r>
              <a:rPr lang="zh-CN" altLang="en-US" b="0" dirty="0">
                <a:solidFill>
                  <a:srgbClr val="000000"/>
                </a:solidFill>
                <a:effectLst/>
                <a:latin typeface="Consolas" panose="020B0609020204030204" pitchFamily="49" charset="0"/>
              </a:rPr>
              <a:t>通过协议约定一系列内容</a:t>
            </a:r>
            <a:r>
              <a:rPr lang="en-US" altLang="zh-CN" b="0" dirty="0">
                <a:solidFill>
                  <a:srgbClr val="000000"/>
                </a:solidFill>
                <a:effectLst/>
                <a:latin typeface="Consolas" panose="020B0609020204030204" pitchFamily="49" charset="0"/>
              </a:rPr>
              <a:t>,</a:t>
            </a:r>
            <a:r>
              <a:rPr lang="zh-CN" altLang="en-US" b="0" dirty="0">
                <a:solidFill>
                  <a:srgbClr val="000000"/>
                </a:solidFill>
                <a:effectLst/>
                <a:latin typeface="Consolas" panose="020B0609020204030204" pitchFamily="49" charset="0"/>
              </a:rPr>
              <a:t>使得接口标准化。进而可以通过完成接口的适配来使得一般的</a:t>
            </a:r>
            <a:r>
              <a:rPr lang="en-US" altLang="zh-CN" b="0" dirty="0">
                <a:solidFill>
                  <a:srgbClr val="000000"/>
                </a:solidFill>
                <a:effectLst/>
                <a:latin typeface="Consolas" panose="020B0609020204030204" pitchFamily="49" charset="0"/>
              </a:rPr>
              <a:t>LLM</a:t>
            </a:r>
            <a:r>
              <a:rPr lang="zh-CN" altLang="en-US" b="0" dirty="0">
                <a:solidFill>
                  <a:srgbClr val="000000"/>
                </a:solidFill>
                <a:effectLst/>
                <a:latin typeface="Consolas" panose="020B0609020204030204" pitchFamily="49" charset="0"/>
              </a:rPr>
              <a:t>可以广泛的调用各种工具</a:t>
            </a:r>
            <a:r>
              <a:rPr lang="en-US" altLang="zh-CN" b="0" dirty="0">
                <a:solidFill>
                  <a:srgbClr val="000000"/>
                </a:solidFill>
                <a:effectLst/>
                <a:latin typeface="Consolas" panose="020B0609020204030204" pitchFamily="49" charset="0"/>
              </a:rPr>
              <a:t>,</a:t>
            </a:r>
            <a:r>
              <a:rPr lang="zh-CN" altLang="en-US" b="0" dirty="0">
                <a:solidFill>
                  <a:srgbClr val="000000"/>
                </a:solidFill>
                <a:effectLst/>
                <a:latin typeface="Consolas" panose="020B0609020204030204" pitchFamily="49" charset="0"/>
              </a:rPr>
              <a:t>包括本地提供的工具和数据以及浩如烟海的互联网各路服务商提供的工具与数据</a:t>
            </a:r>
            <a:r>
              <a:rPr lang="en-US" altLang="zh-CN" b="0" dirty="0">
                <a:solidFill>
                  <a:srgbClr val="000000"/>
                </a:solidFill>
                <a:effectLst/>
                <a:latin typeface="Consolas" panose="020B0609020204030204" pitchFamily="49" charset="0"/>
              </a:rPr>
              <a:t>(</a:t>
            </a:r>
            <a:r>
              <a:rPr lang="zh-CN" altLang="en-US" b="0" dirty="0">
                <a:solidFill>
                  <a:srgbClr val="000000"/>
                </a:solidFill>
                <a:effectLst/>
                <a:latin typeface="Consolas" panose="020B0609020204030204" pitchFamily="49" charset="0"/>
              </a:rPr>
              <a:t>如地图、天气数据等</a:t>
            </a:r>
            <a:r>
              <a:rPr lang="en-US" altLang="zh-CN" b="0" dirty="0">
                <a:solidFill>
                  <a:srgbClr val="000000"/>
                </a:solidFill>
                <a:effectLst/>
                <a:latin typeface="Consolas" panose="020B0609020204030204" pitchFamily="49" charset="0"/>
              </a:rPr>
              <a:t>)</a:t>
            </a:r>
            <a:r>
              <a:rPr lang="zh-CN" altLang="en-US" b="0" dirty="0">
                <a:solidFill>
                  <a:srgbClr val="000000"/>
                </a:solidFill>
                <a:effectLst/>
                <a:latin typeface="Consolas" panose="020B0609020204030204" pitchFamily="49" charset="0"/>
              </a:rPr>
              <a:t>。</a:t>
            </a:r>
            <a:endParaRPr lang="en-US" altLang="zh-C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732598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3ECFAA8-87DC-48AF-9273-0EC0FBC99815}"/>
              </a:ext>
            </a:extLst>
          </p:cNvPr>
          <p:cNvSpPr txBox="1"/>
          <p:nvPr/>
        </p:nvSpPr>
        <p:spPr>
          <a:xfrm>
            <a:off x="678760" y="344556"/>
            <a:ext cx="3140765" cy="369332"/>
          </a:xfrm>
          <a:prstGeom prst="rect">
            <a:avLst/>
          </a:prstGeom>
          <a:noFill/>
        </p:spPr>
        <p:txBody>
          <a:bodyPr wrap="square" rtlCol="0">
            <a:spAutoFit/>
          </a:bodyPr>
          <a:lstStyle/>
          <a:p>
            <a:r>
              <a:rPr lang="en-US" altLang="zh-CN" b="1" dirty="0">
                <a:solidFill>
                  <a:srgbClr val="800000"/>
                </a:solidFill>
                <a:effectLst/>
                <a:latin typeface="Consolas" panose="020B0609020204030204" pitchFamily="49" charset="0"/>
              </a:rPr>
              <a:t>MCP Server</a:t>
            </a:r>
            <a:endParaRPr lang="en-US" altLang="zh-CN" b="0" dirty="0">
              <a:solidFill>
                <a:srgbClr val="000000"/>
              </a:solidFill>
              <a:effectLst/>
              <a:latin typeface="Consolas" panose="020B0609020204030204" pitchFamily="49" charset="0"/>
            </a:endParaRPr>
          </a:p>
        </p:txBody>
      </p:sp>
      <p:sp>
        <p:nvSpPr>
          <p:cNvPr id="4" name="文本框 3">
            <a:extLst>
              <a:ext uri="{FF2B5EF4-FFF2-40B4-BE49-F238E27FC236}">
                <a16:creationId xmlns:a16="http://schemas.microsoft.com/office/drawing/2014/main" id="{90ADF1BD-31E0-482A-92B2-7E3916860FEF}"/>
              </a:ext>
            </a:extLst>
          </p:cNvPr>
          <p:cNvSpPr txBox="1"/>
          <p:nvPr/>
        </p:nvSpPr>
        <p:spPr>
          <a:xfrm>
            <a:off x="409503" y="1085746"/>
            <a:ext cx="11372993" cy="1477328"/>
          </a:xfrm>
          <a:prstGeom prst="rect">
            <a:avLst/>
          </a:prstGeom>
          <a:noFill/>
        </p:spPr>
        <p:txBody>
          <a:bodyPr wrap="square" rtlCol="0">
            <a:spAutoFit/>
          </a:bodyPr>
          <a:lstStyle/>
          <a:p>
            <a:r>
              <a:rPr lang="en-US" altLang="zh-CN" b="0" dirty="0">
                <a:solidFill>
                  <a:srgbClr val="000000"/>
                </a:solidFill>
                <a:effectLst/>
                <a:latin typeface="Consolas" panose="020B0609020204030204" pitchFamily="49" charset="0"/>
              </a:rPr>
              <a:t>MCP server</a:t>
            </a:r>
            <a:r>
              <a:rPr lang="zh-CN" altLang="en-US" b="0" dirty="0">
                <a:solidFill>
                  <a:srgbClr val="000000"/>
                </a:solidFill>
                <a:effectLst/>
                <a:latin typeface="Consolas" panose="020B0609020204030204" pitchFamily="49" charset="0"/>
              </a:rPr>
              <a:t>在实现上与一般的网络服务器没有太大差别</a:t>
            </a:r>
            <a:r>
              <a:rPr lang="en-US" altLang="zh-CN" b="0" dirty="0">
                <a:solidFill>
                  <a:srgbClr val="000000"/>
                </a:solidFill>
                <a:effectLst/>
                <a:latin typeface="Consolas" panose="020B0609020204030204" pitchFamily="49" charset="0"/>
              </a:rPr>
              <a:t>,</a:t>
            </a:r>
            <a:r>
              <a:rPr lang="zh-CN" altLang="en-US" b="0" dirty="0">
                <a:solidFill>
                  <a:srgbClr val="000000"/>
                </a:solidFill>
                <a:effectLst/>
                <a:latin typeface="Consolas" panose="020B0609020204030204" pitchFamily="49" charset="0"/>
              </a:rPr>
              <a:t>只是遵循</a:t>
            </a:r>
            <a:r>
              <a:rPr lang="en-US" altLang="zh-CN" b="0" dirty="0">
                <a:solidFill>
                  <a:srgbClr val="000000"/>
                </a:solidFill>
                <a:effectLst/>
                <a:latin typeface="Consolas" panose="020B0609020204030204" pitchFamily="49" charset="0"/>
              </a:rPr>
              <a:t>MCP</a:t>
            </a:r>
            <a:r>
              <a:rPr lang="zh-CN" altLang="en-US" b="0" dirty="0">
                <a:solidFill>
                  <a:srgbClr val="000000"/>
                </a:solidFill>
                <a:effectLst/>
                <a:latin typeface="Consolas" panose="020B0609020204030204" pitchFamily="49" charset="0"/>
              </a:rPr>
              <a:t>协议暴露</a:t>
            </a:r>
            <a:r>
              <a:rPr lang="zh-CN" altLang="en-US" dirty="0">
                <a:solidFill>
                  <a:srgbClr val="000000"/>
                </a:solidFill>
                <a:effectLst/>
                <a:latin typeface="Consolas" panose="020B0609020204030204" pitchFamily="49" charset="0"/>
              </a:rPr>
              <a:t>其</a:t>
            </a:r>
            <a:r>
              <a:rPr lang="zh-CN" altLang="en-US" b="1" dirty="0">
                <a:solidFill>
                  <a:srgbClr val="000000"/>
                </a:solidFill>
                <a:effectLst/>
                <a:latin typeface="Consolas" panose="020B0609020204030204" pitchFamily="49" charset="0"/>
              </a:rPr>
              <a:t>能力、通信标准和方式</a:t>
            </a:r>
            <a:r>
              <a:rPr lang="zh-CN" altLang="en-US" b="0" dirty="0">
                <a:solidFill>
                  <a:srgbClr val="000000"/>
                </a:solidFill>
                <a:effectLst/>
                <a:latin typeface="Consolas" panose="020B0609020204030204" pitchFamily="49" charset="0"/>
              </a:rPr>
              <a:t>。本地服务器通过</a:t>
            </a:r>
            <a:r>
              <a:rPr lang="en-US" altLang="zh-CN" b="1" dirty="0" err="1">
                <a:solidFill>
                  <a:srgbClr val="000000"/>
                </a:solidFill>
                <a:effectLst/>
                <a:latin typeface="Consolas" panose="020B0609020204030204" pitchFamily="49" charset="0"/>
              </a:rPr>
              <a:t>stdio</a:t>
            </a:r>
            <a:r>
              <a:rPr lang="zh-CN" altLang="en-US" b="0" dirty="0">
                <a:solidFill>
                  <a:srgbClr val="000000"/>
                </a:solidFill>
                <a:effectLst/>
                <a:latin typeface="Consolas" panose="020B0609020204030204" pitchFamily="49" charset="0"/>
              </a:rPr>
              <a:t>通信、非本地服务器则通过</a:t>
            </a:r>
            <a:r>
              <a:rPr lang="en-US" altLang="zh-CN" b="1" dirty="0">
                <a:solidFill>
                  <a:srgbClr val="000000"/>
                </a:solidFill>
                <a:effectLst/>
                <a:latin typeface="Consolas" panose="020B0609020204030204" pitchFamily="49" charset="0"/>
              </a:rPr>
              <a:t>HTTP</a:t>
            </a:r>
            <a:r>
              <a:rPr lang="zh-CN" altLang="en-US" b="1" dirty="0">
                <a:solidFill>
                  <a:srgbClr val="000000"/>
                </a:solidFill>
                <a:effectLst/>
                <a:latin typeface="Consolas" panose="020B0609020204030204" pitchFamily="49" charset="0"/>
              </a:rPr>
              <a:t>、</a:t>
            </a:r>
            <a:r>
              <a:rPr lang="en-US" altLang="zh-CN" b="1" dirty="0">
                <a:solidFill>
                  <a:srgbClr val="000000"/>
                </a:solidFill>
                <a:effectLst/>
                <a:latin typeface="Consolas" panose="020B0609020204030204" pitchFamily="49" charset="0"/>
              </a:rPr>
              <a:t>SSE</a:t>
            </a:r>
            <a:r>
              <a:rPr lang="zh-CN" altLang="en-US" b="0" dirty="0">
                <a:solidFill>
                  <a:srgbClr val="000000"/>
                </a:solidFill>
                <a:effectLst/>
                <a:latin typeface="Consolas" panose="020B0609020204030204" pitchFamily="49" charset="0"/>
              </a:rPr>
              <a:t>方式通信。</a:t>
            </a:r>
          </a:p>
          <a:p>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MCP SDK</a:t>
            </a:r>
            <a:r>
              <a:rPr lang="zh-CN" altLang="en-US" b="0" dirty="0">
                <a:solidFill>
                  <a:srgbClr val="000000"/>
                </a:solidFill>
                <a:effectLst/>
                <a:latin typeface="Consolas" panose="020B0609020204030204" pitchFamily="49" charset="0"/>
              </a:rPr>
              <a:t>提供了一个简单</a:t>
            </a:r>
            <a:r>
              <a:rPr lang="en-US" altLang="zh-CN" b="0" dirty="0" err="1">
                <a:solidFill>
                  <a:srgbClr val="000000"/>
                </a:solidFill>
                <a:effectLst/>
                <a:latin typeface="Consolas" panose="020B0609020204030204" pitchFamily="49" charset="0"/>
              </a:rPr>
              <a:t>FastMCP</a:t>
            </a:r>
            <a:r>
              <a:rPr lang="zh-CN" altLang="en-US" b="0" dirty="0">
                <a:solidFill>
                  <a:srgbClr val="000000"/>
                </a:solidFill>
                <a:effectLst/>
                <a:latin typeface="Consolas" panose="020B0609020204030204" pitchFamily="49" charset="0"/>
              </a:rPr>
              <a:t>实现</a:t>
            </a:r>
            <a:r>
              <a:rPr lang="en-US" altLang="zh-CN" b="0" dirty="0">
                <a:solidFill>
                  <a:srgbClr val="000000"/>
                </a:solidFill>
                <a:effectLst/>
                <a:latin typeface="Consolas" panose="020B0609020204030204" pitchFamily="49" charset="0"/>
              </a:rPr>
              <a:t>,</a:t>
            </a:r>
            <a:r>
              <a:rPr lang="zh-CN" altLang="en-US" b="0" dirty="0">
                <a:solidFill>
                  <a:srgbClr val="000000"/>
                </a:solidFill>
                <a:effectLst/>
                <a:latin typeface="Consolas" panose="020B0609020204030204" pitchFamily="49" charset="0"/>
              </a:rPr>
              <a:t>允许</a:t>
            </a:r>
            <a:r>
              <a:rPr lang="en-US" altLang="zh-CN" b="0" dirty="0">
                <a:solidFill>
                  <a:srgbClr val="000000"/>
                </a:solidFill>
                <a:effectLst/>
                <a:latin typeface="Consolas" panose="020B0609020204030204" pitchFamily="49" charset="0"/>
              </a:rPr>
              <a:t>Client</a:t>
            </a:r>
            <a:r>
              <a:rPr lang="zh-CN" altLang="en-US" b="0" dirty="0">
                <a:solidFill>
                  <a:srgbClr val="000000"/>
                </a:solidFill>
                <a:effectLst/>
                <a:latin typeface="Consolas" panose="020B0609020204030204" pitchFamily="49" charset="0"/>
              </a:rPr>
              <a:t>通过单个脚本</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py</a:t>
            </a:r>
            <a:r>
              <a:rPr lang="zh-CN" altLang="en-US" b="0" dirty="0">
                <a:solidFill>
                  <a:srgbClr val="000000"/>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node)</a:t>
            </a:r>
            <a:r>
              <a:rPr lang="zh-CN" altLang="en-US" b="0" dirty="0">
                <a:solidFill>
                  <a:srgbClr val="000000"/>
                </a:solidFill>
                <a:effectLst/>
                <a:latin typeface="Consolas" panose="020B0609020204030204" pitchFamily="49" charset="0"/>
              </a:rPr>
              <a:t>来启动本地服务器进行互联。也可拓展之使用</a:t>
            </a:r>
            <a:r>
              <a:rPr lang="en-US" altLang="zh-CN" b="0" dirty="0" err="1">
                <a:solidFill>
                  <a:srgbClr val="000000"/>
                </a:solidFill>
                <a:effectLst/>
                <a:latin typeface="Consolas" panose="020B0609020204030204" pitchFamily="49" charset="0"/>
              </a:rPr>
              <a:t>httpx</a:t>
            </a:r>
            <a:r>
              <a:rPr lang="zh-CN" altLang="en-US" b="0" dirty="0">
                <a:solidFill>
                  <a:srgbClr val="000000"/>
                </a:solidFill>
                <a:effectLst/>
                <a:latin typeface="Consolas" panose="020B0609020204030204" pitchFamily="49" charset="0"/>
              </a:rPr>
              <a:t>连接</a:t>
            </a:r>
            <a:r>
              <a:rPr lang="en-US" altLang="zh-CN" b="0" dirty="0">
                <a:solidFill>
                  <a:srgbClr val="000000"/>
                </a:solidFill>
                <a:effectLst/>
                <a:latin typeface="Consolas" panose="020B0609020204030204" pitchFamily="49" charset="0"/>
              </a:rPr>
              <a:t>,</a:t>
            </a:r>
            <a:r>
              <a:rPr lang="zh-CN" altLang="en-US" b="0" dirty="0">
                <a:solidFill>
                  <a:srgbClr val="000000"/>
                </a:solidFill>
                <a:effectLst/>
                <a:latin typeface="Consolas" panose="020B0609020204030204" pitchFamily="49" charset="0"/>
              </a:rPr>
              <a:t>获取互联网其他提供商提供的</a:t>
            </a:r>
            <a:r>
              <a:rPr lang="en-US" altLang="zh-CN" b="0" dirty="0">
                <a:solidFill>
                  <a:srgbClr val="000000"/>
                </a:solidFill>
                <a:effectLst/>
                <a:latin typeface="Consolas" panose="020B0609020204030204" pitchFamily="49" charset="0"/>
              </a:rPr>
              <a:t>MCP Server</a:t>
            </a:r>
            <a:r>
              <a:rPr lang="zh-CN" altLang="en-US" b="0" dirty="0">
                <a:solidFill>
                  <a:srgbClr val="000000"/>
                </a:solidFill>
                <a:effectLst/>
                <a:latin typeface="Consolas" panose="020B0609020204030204" pitchFamily="49" charset="0"/>
              </a:rPr>
              <a:t>的服务。</a:t>
            </a:r>
            <a:endParaRPr lang="en-US" altLang="zh-CN" b="0" dirty="0">
              <a:solidFill>
                <a:srgbClr val="000000"/>
              </a:solidFill>
              <a:effectLst/>
              <a:latin typeface="Consolas" panose="020B0609020204030204" pitchFamily="49" charset="0"/>
            </a:endParaRPr>
          </a:p>
        </p:txBody>
      </p:sp>
      <p:sp>
        <p:nvSpPr>
          <p:cNvPr id="5" name="Rectangle 3">
            <a:extLst>
              <a:ext uri="{FF2B5EF4-FFF2-40B4-BE49-F238E27FC236}">
                <a16:creationId xmlns:a16="http://schemas.microsoft.com/office/drawing/2014/main" id="{AA93D78C-5C1C-4F6C-ADE7-BFCB14BDB47A}"/>
              </a:ext>
            </a:extLst>
          </p:cNvPr>
          <p:cNvSpPr>
            <a:spLocks noChangeArrowheads="1"/>
          </p:cNvSpPr>
          <p:nvPr/>
        </p:nvSpPr>
        <p:spPr bwMode="auto">
          <a:xfrm>
            <a:off x="470453" y="2811822"/>
            <a:ext cx="5777947" cy="1677382"/>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r>
              <a:rPr lang="zh-CN" altLang="en-US" sz="1600" b="0" dirty="0">
                <a:solidFill>
                  <a:srgbClr val="FFFFFF"/>
                </a:solidFill>
                <a:effectLst/>
                <a:latin typeface="Consolas" panose="020B0609020204030204" pitchFamily="49" charset="0"/>
              </a:rPr>
              <a:t>向服务器请求</a:t>
            </a:r>
            <a:r>
              <a:rPr lang="en-US" altLang="zh-CN" sz="1600" dirty="0" err="1">
                <a:solidFill>
                  <a:srgbClr val="FFFFFF"/>
                </a:solidFill>
                <a:latin typeface="Consolas" panose="020B0609020204030204" pitchFamily="49" charset="0"/>
              </a:rPr>
              <a:t>list_tools</a:t>
            </a:r>
            <a:r>
              <a:rPr lang="en-US" altLang="zh-CN" sz="1600" dirty="0">
                <a:solidFill>
                  <a:srgbClr val="FFFFFF"/>
                </a:solidFill>
                <a:latin typeface="Consolas" panose="020B0609020204030204" pitchFamily="49" charset="0"/>
              </a:rPr>
              <a:t>,</a:t>
            </a:r>
            <a:r>
              <a:rPr lang="zh-CN" altLang="en-US" sz="1600" dirty="0">
                <a:solidFill>
                  <a:srgbClr val="FFFFFF"/>
                </a:solidFill>
                <a:latin typeface="Consolas" panose="020B0609020204030204" pitchFamily="49" charset="0"/>
              </a:rPr>
              <a:t>服务器得到的信息会是这样的：</a:t>
            </a:r>
            <a:endParaRPr lang="en-US" altLang="zh-CN" sz="1600" b="0" dirty="0">
              <a:solidFill>
                <a:srgbClr val="FFFFFF"/>
              </a:solidFill>
              <a:effectLst/>
              <a:latin typeface="Consolas" panose="020B0609020204030204" pitchFamily="49" charset="0"/>
            </a:endParaRPr>
          </a:p>
          <a:p>
            <a:r>
              <a:rPr lang="en-US" altLang="zh-CN" sz="1000" b="0" dirty="0">
                <a:solidFill>
                  <a:srgbClr val="FFFFFF"/>
                </a:solidFill>
                <a:effectLst/>
                <a:latin typeface="Consolas" panose="020B0609020204030204" pitchFamily="49" charset="0"/>
              </a:rPr>
              <a:t>[{</a:t>
            </a:r>
          </a:p>
          <a:p>
            <a:r>
              <a:rPr lang="en-US" altLang="zh-CN" sz="1000" b="0" dirty="0">
                <a:solidFill>
                  <a:srgbClr val="FFFFFF"/>
                </a:solidFill>
                <a:effectLst/>
                <a:latin typeface="Consolas" panose="020B0609020204030204" pitchFamily="49" charset="0"/>
              </a:rPr>
              <a:t>  </a:t>
            </a:r>
            <a:r>
              <a:rPr lang="en-US" altLang="zh-CN" sz="1000" b="0" dirty="0">
                <a:solidFill>
                  <a:srgbClr val="CE9178"/>
                </a:solidFill>
                <a:effectLst/>
                <a:latin typeface="Consolas" panose="020B0609020204030204" pitchFamily="49" charset="0"/>
              </a:rPr>
              <a:t>'type'</a:t>
            </a:r>
            <a:r>
              <a:rPr lang="en-US" altLang="zh-CN" sz="1000" b="0" dirty="0">
                <a:solidFill>
                  <a:srgbClr val="FFFFFF"/>
                </a:solidFill>
                <a:effectLst/>
                <a:latin typeface="Consolas" panose="020B0609020204030204" pitchFamily="49" charset="0"/>
              </a:rPr>
              <a:t>: </a:t>
            </a:r>
            <a:r>
              <a:rPr lang="en-US" altLang="zh-CN" sz="1000" b="0" dirty="0">
                <a:solidFill>
                  <a:srgbClr val="CE9178"/>
                </a:solidFill>
                <a:effectLst/>
                <a:latin typeface="Consolas" panose="020B0609020204030204" pitchFamily="49" charset="0"/>
              </a:rPr>
              <a:t>'function'</a:t>
            </a:r>
            <a:r>
              <a:rPr lang="en-US" altLang="zh-CN" sz="1000" b="0" dirty="0">
                <a:solidFill>
                  <a:srgbClr val="FFFFFF"/>
                </a:solidFill>
                <a:effectLst/>
                <a:latin typeface="Consolas" panose="020B0609020204030204" pitchFamily="49" charset="0"/>
              </a:rPr>
              <a:t>, </a:t>
            </a:r>
          </a:p>
          <a:p>
            <a:r>
              <a:rPr lang="en-US" altLang="zh-CN" sz="1000" b="0" dirty="0">
                <a:solidFill>
                  <a:srgbClr val="FFFFFF"/>
                </a:solidFill>
                <a:effectLst/>
                <a:latin typeface="Consolas" panose="020B0609020204030204" pitchFamily="49" charset="0"/>
              </a:rPr>
              <a:t>  </a:t>
            </a:r>
            <a:r>
              <a:rPr lang="en-US" altLang="zh-CN" sz="1000" b="0" dirty="0">
                <a:solidFill>
                  <a:srgbClr val="CE9178"/>
                </a:solidFill>
                <a:effectLst/>
                <a:latin typeface="Consolas" panose="020B0609020204030204" pitchFamily="49" charset="0"/>
              </a:rPr>
              <a:t>'function'</a:t>
            </a:r>
            <a:r>
              <a:rPr lang="en-US" altLang="zh-CN" sz="1000" b="0" dirty="0">
                <a:solidFill>
                  <a:srgbClr val="FFFFFF"/>
                </a:solidFill>
                <a:effectLst/>
                <a:latin typeface="Consolas" panose="020B0609020204030204" pitchFamily="49" charset="0"/>
              </a:rPr>
              <a:t>: {</a:t>
            </a:r>
          </a:p>
          <a:p>
            <a:r>
              <a:rPr lang="en-US" altLang="zh-CN" sz="1000" b="0" dirty="0">
                <a:solidFill>
                  <a:srgbClr val="FFFFFF"/>
                </a:solidFill>
                <a:effectLst/>
                <a:latin typeface="Consolas" panose="020B0609020204030204" pitchFamily="49" charset="0"/>
              </a:rPr>
              <a:t>  </a:t>
            </a:r>
            <a:r>
              <a:rPr lang="en-US" altLang="zh-CN" sz="1000" b="0" dirty="0">
                <a:solidFill>
                  <a:srgbClr val="CE9178"/>
                </a:solidFill>
                <a:effectLst/>
                <a:latin typeface="Consolas" panose="020B0609020204030204" pitchFamily="49" charset="0"/>
              </a:rPr>
              <a:t>'name'</a:t>
            </a:r>
            <a:r>
              <a:rPr lang="en-US" altLang="zh-CN" sz="1000" b="0" dirty="0">
                <a:solidFill>
                  <a:srgbClr val="FFFFFF"/>
                </a:solidFill>
                <a:effectLst/>
                <a:latin typeface="Consolas" panose="020B0609020204030204" pitchFamily="49" charset="0"/>
              </a:rPr>
              <a:t>: </a:t>
            </a:r>
            <a:r>
              <a:rPr lang="en-US" altLang="zh-CN" sz="1000" b="0" dirty="0">
                <a:solidFill>
                  <a:srgbClr val="CE9178"/>
                </a:solidFill>
                <a:effectLst/>
                <a:latin typeface="Consolas" panose="020B0609020204030204" pitchFamily="49" charset="0"/>
              </a:rPr>
              <a:t>'</a:t>
            </a:r>
            <a:r>
              <a:rPr lang="en-US" altLang="zh-CN" sz="1000" b="0" dirty="0" err="1">
                <a:solidFill>
                  <a:srgbClr val="CE9178"/>
                </a:solidFill>
                <a:effectLst/>
                <a:latin typeface="Consolas" panose="020B0609020204030204" pitchFamily="49" charset="0"/>
              </a:rPr>
              <a:t>get_alerts</a:t>
            </a:r>
            <a:r>
              <a:rPr lang="en-US" altLang="zh-CN" sz="1000" b="0" dirty="0">
                <a:solidFill>
                  <a:srgbClr val="CE9178"/>
                </a:solidFill>
                <a:effectLst/>
                <a:latin typeface="Consolas" panose="020B0609020204030204" pitchFamily="49" charset="0"/>
              </a:rPr>
              <a:t>'</a:t>
            </a:r>
            <a:r>
              <a:rPr lang="en-US" altLang="zh-CN" sz="1000" b="0" dirty="0">
                <a:solidFill>
                  <a:srgbClr val="FFFFFF"/>
                </a:solidFill>
                <a:effectLst/>
                <a:latin typeface="Consolas" panose="020B0609020204030204" pitchFamily="49" charset="0"/>
              </a:rPr>
              <a:t>, </a:t>
            </a:r>
          </a:p>
          <a:p>
            <a:r>
              <a:rPr lang="en-US" altLang="zh-CN" sz="1000" b="0" dirty="0">
                <a:solidFill>
                  <a:srgbClr val="FFFFFF"/>
                </a:solidFill>
                <a:effectLst/>
                <a:latin typeface="Consolas" panose="020B0609020204030204" pitchFamily="49" charset="0"/>
              </a:rPr>
              <a:t>  </a:t>
            </a:r>
            <a:r>
              <a:rPr lang="en-US" altLang="zh-CN" sz="1000" b="0" dirty="0">
                <a:solidFill>
                  <a:srgbClr val="CE9178"/>
                </a:solidFill>
                <a:effectLst/>
                <a:latin typeface="Consolas" panose="020B0609020204030204" pitchFamily="49" charset="0"/>
              </a:rPr>
              <a:t>'description'</a:t>
            </a:r>
            <a:r>
              <a:rPr lang="en-US" altLang="zh-CN" sz="1000" b="0" dirty="0">
                <a:solidFill>
                  <a:srgbClr val="FFFFFF"/>
                </a:solidFill>
                <a:effectLst/>
                <a:latin typeface="Consolas" panose="020B0609020204030204" pitchFamily="49" charset="0"/>
              </a:rPr>
              <a:t>: </a:t>
            </a:r>
            <a:r>
              <a:rPr lang="en-US" altLang="zh-CN" sz="1000" b="0" dirty="0">
                <a:solidFill>
                  <a:srgbClr val="CE9178"/>
                </a:solidFill>
                <a:effectLst/>
                <a:latin typeface="Consolas" panose="020B0609020204030204" pitchFamily="49" charset="0"/>
              </a:rPr>
              <a:t>'Get weather alerts for a US state.'</a:t>
            </a:r>
            <a:r>
              <a:rPr lang="en-US" altLang="zh-CN" sz="1000" b="0" dirty="0">
                <a:solidFill>
                  <a:srgbClr val="FFFFFF"/>
                </a:solidFill>
                <a:effectLst/>
                <a:latin typeface="Consolas" panose="020B0609020204030204" pitchFamily="49" charset="0"/>
              </a:rPr>
              <a:t>, </a:t>
            </a:r>
          </a:p>
          <a:p>
            <a:r>
              <a:rPr lang="en-US" altLang="zh-CN" sz="1000" b="0" dirty="0">
                <a:solidFill>
                  <a:srgbClr val="FFFFFF"/>
                </a:solidFill>
                <a:effectLst/>
                <a:latin typeface="Consolas" panose="020B0609020204030204" pitchFamily="49" charset="0"/>
              </a:rPr>
              <a:t>  </a:t>
            </a:r>
            <a:r>
              <a:rPr lang="en-US" altLang="zh-CN" sz="1000" b="0" dirty="0">
                <a:solidFill>
                  <a:srgbClr val="CE9178"/>
                </a:solidFill>
                <a:effectLst/>
                <a:latin typeface="Consolas" panose="020B0609020204030204" pitchFamily="49" charset="0"/>
              </a:rPr>
              <a:t>'parameters'</a:t>
            </a:r>
            <a:r>
              <a:rPr lang="en-US" altLang="zh-CN" sz="1000" b="0" dirty="0">
                <a:solidFill>
                  <a:srgbClr val="FFFFFF"/>
                </a:solidFill>
                <a:effectLst/>
                <a:latin typeface="Consolas" panose="020B0609020204030204" pitchFamily="49" charset="0"/>
              </a:rPr>
              <a:t>: {</a:t>
            </a:r>
            <a:r>
              <a:rPr lang="en-US" altLang="zh-CN" sz="1000" b="0" dirty="0">
                <a:solidFill>
                  <a:srgbClr val="CE9178"/>
                </a:solidFill>
                <a:effectLst/>
                <a:latin typeface="Consolas" panose="020B0609020204030204" pitchFamily="49" charset="0"/>
              </a:rPr>
              <a:t>'properties'</a:t>
            </a:r>
            <a:r>
              <a:rPr lang="en-US" altLang="zh-CN" sz="1000" b="0" dirty="0">
                <a:solidFill>
                  <a:srgbClr val="FFFFFF"/>
                </a:solidFill>
                <a:effectLst/>
                <a:latin typeface="Consolas" panose="020B0609020204030204" pitchFamily="49" charset="0"/>
              </a:rPr>
              <a:t>: {</a:t>
            </a:r>
            <a:r>
              <a:rPr lang="en-US" altLang="zh-CN" sz="1000" b="0" dirty="0">
                <a:solidFill>
                  <a:srgbClr val="CE9178"/>
                </a:solidFill>
                <a:effectLst/>
                <a:latin typeface="Consolas" panose="020B0609020204030204" pitchFamily="49" charset="0"/>
              </a:rPr>
              <a:t>'state'</a:t>
            </a:r>
            <a:r>
              <a:rPr lang="en-US" altLang="zh-CN" sz="1000" b="0" dirty="0">
                <a:solidFill>
                  <a:srgbClr val="FFFFFF"/>
                </a:solidFill>
                <a:effectLst/>
                <a:latin typeface="Consolas" panose="020B0609020204030204" pitchFamily="49" charset="0"/>
              </a:rPr>
              <a:t>: {</a:t>
            </a:r>
            <a:r>
              <a:rPr lang="en-US" altLang="zh-CN" sz="1000" b="0" dirty="0">
                <a:solidFill>
                  <a:srgbClr val="CE9178"/>
                </a:solidFill>
                <a:effectLst/>
                <a:latin typeface="Consolas" panose="020B0609020204030204" pitchFamily="49" charset="0"/>
              </a:rPr>
              <a:t>'title'</a:t>
            </a:r>
            <a:r>
              <a:rPr lang="en-US" altLang="zh-CN" sz="1000" b="0" dirty="0">
                <a:solidFill>
                  <a:srgbClr val="FFFFFF"/>
                </a:solidFill>
                <a:effectLst/>
                <a:latin typeface="Consolas" panose="020B0609020204030204" pitchFamily="49" charset="0"/>
              </a:rPr>
              <a:t>: </a:t>
            </a:r>
            <a:r>
              <a:rPr lang="en-US" altLang="zh-CN" sz="1000" b="0" dirty="0">
                <a:solidFill>
                  <a:srgbClr val="CE9178"/>
                </a:solidFill>
                <a:effectLst/>
                <a:latin typeface="Consolas" panose="020B0609020204030204" pitchFamily="49" charset="0"/>
              </a:rPr>
              <a:t>'State'</a:t>
            </a:r>
            <a:r>
              <a:rPr lang="en-US" altLang="zh-CN" sz="1000" b="0" dirty="0">
                <a:solidFill>
                  <a:srgbClr val="FFFFFF"/>
                </a:solidFill>
                <a:effectLst/>
                <a:latin typeface="Consolas" panose="020B0609020204030204" pitchFamily="49" charset="0"/>
              </a:rPr>
              <a:t>, </a:t>
            </a:r>
            <a:r>
              <a:rPr lang="en-US" altLang="zh-CN" sz="1000" b="0" dirty="0">
                <a:solidFill>
                  <a:srgbClr val="CE9178"/>
                </a:solidFill>
                <a:effectLst/>
                <a:latin typeface="Consolas" panose="020B0609020204030204" pitchFamily="49" charset="0"/>
              </a:rPr>
              <a:t>'type'</a:t>
            </a:r>
            <a:r>
              <a:rPr lang="en-US" altLang="zh-CN" sz="1000" b="0" dirty="0">
                <a:solidFill>
                  <a:srgbClr val="FFFFFF"/>
                </a:solidFill>
                <a:effectLst/>
                <a:latin typeface="Consolas" panose="020B0609020204030204" pitchFamily="49" charset="0"/>
              </a:rPr>
              <a:t>: </a:t>
            </a:r>
            <a:r>
              <a:rPr lang="en-US" altLang="zh-CN" sz="1000" b="0" dirty="0">
                <a:solidFill>
                  <a:srgbClr val="CE9178"/>
                </a:solidFill>
                <a:effectLst/>
                <a:latin typeface="Consolas" panose="020B0609020204030204" pitchFamily="49" charset="0"/>
              </a:rPr>
              <a:t>'string'</a:t>
            </a:r>
            <a:r>
              <a:rPr lang="en-US" altLang="zh-CN" sz="1000" b="0" dirty="0">
                <a:solidFill>
                  <a:srgbClr val="FFFFFF"/>
                </a:solidFill>
                <a:effectLst/>
                <a:latin typeface="Consolas" panose="020B0609020204030204" pitchFamily="49" charset="0"/>
              </a:rPr>
              <a:t>}}, </a:t>
            </a:r>
          </a:p>
          <a:p>
            <a:r>
              <a:rPr lang="en-US" altLang="zh-CN" sz="1000" b="0" dirty="0">
                <a:solidFill>
                  <a:srgbClr val="FFFFFF"/>
                </a:solidFill>
                <a:effectLst/>
                <a:latin typeface="Consolas" panose="020B0609020204030204" pitchFamily="49" charset="0"/>
              </a:rPr>
              <a:t>  </a:t>
            </a:r>
            <a:r>
              <a:rPr lang="en-US" altLang="zh-CN" sz="1000" b="0" dirty="0">
                <a:solidFill>
                  <a:srgbClr val="CE9178"/>
                </a:solidFill>
                <a:effectLst/>
                <a:latin typeface="Consolas" panose="020B0609020204030204" pitchFamily="49" charset="0"/>
              </a:rPr>
              <a:t>'required'</a:t>
            </a:r>
            <a:r>
              <a:rPr lang="en-US" altLang="zh-CN" sz="1000" b="0" dirty="0">
                <a:solidFill>
                  <a:srgbClr val="FFFFFF"/>
                </a:solidFill>
                <a:effectLst/>
                <a:latin typeface="Consolas" panose="020B0609020204030204" pitchFamily="49" charset="0"/>
              </a:rPr>
              <a:t>: [</a:t>
            </a:r>
            <a:r>
              <a:rPr lang="en-US" altLang="zh-CN" sz="1000" b="0" dirty="0">
                <a:solidFill>
                  <a:srgbClr val="CE9178"/>
                </a:solidFill>
                <a:effectLst/>
                <a:latin typeface="Consolas" panose="020B0609020204030204" pitchFamily="49" charset="0"/>
              </a:rPr>
              <a:t>'state'</a:t>
            </a:r>
            <a:r>
              <a:rPr lang="en-US" altLang="zh-CN" sz="1000" b="0" dirty="0">
                <a:solidFill>
                  <a:srgbClr val="FFFFFF"/>
                </a:solidFill>
                <a:effectLst/>
                <a:latin typeface="Consolas" panose="020B0609020204030204" pitchFamily="49" charset="0"/>
              </a:rPr>
              <a:t>], </a:t>
            </a:r>
          </a:p>
          <a:p>
            <a:r>
              <a:rPr lang="en-US" altLang="zh-CN" sz="1000" b="0" dirty="0">
                <a:solidFill>
                  <a:srgbClr val="FFFFFF"/>
                </a:solidFill>
                <a:effectLst/>
                <a:latin typeface="Consolas" panose="020B0609020204030204" pitchFamily="49" charset="0"/>
              </a:rPr>
              <a:t>  </a:t>
            </a:r>
            <a:r>
              <a:rPr lang="en-US" altLang="zh-CN" sz="1000" b="0" dirty="0">
                <a:solidFill>
                  <a:srgbClr val="CE9178"/>
                </a:solidFill>
                <a:effectLst/>
                <a:latin typeface="Consolas" panose="020B0609020204030204" pitchFamily="49" charset="0"/>
              </a:rPr>
              <a:t>'title'</a:t>
            </a:r>
            <a:r>
              <a:rPr lang="en-US" altLang="zh-CN" sz="1000" b="0" dirty="0">
                <a:solidFill>
                  <a:srgbClr val="FFFFFF"/>
                </a:solidFill>
                <a:effectLst/>
                <a:latin typeface="Consolas" panose="020B0609020204030204" pitchFamily="49" charset="0"/>
              </a:rPr>
              <a:t>: </a:t>
            </a:r>
            <a:r>
              <a:rPr lang="en-US" altLang="zh-CN" sz="1000" b="0" dirty="0">
                <a:solidFill>
                  <a:srgbClr val="CE9178"/>
                </a:solidFill>
                <a:effectLst/>
                <a:latin typeface="Consolas" panose="020B0609020204030204" pitchFamily="49" charset="0"/>
              </a:rPr>
              <a:t>'</a:t>
            </a:r>
            <a:r>
              <a:rPr lang="en-US" altLang="zh-CN" sz="1000" b="0" dirty="0" err="1">
                <a:solidFill>
                  <a:srgbClr val="CE9178"/>
                </a:solidFill>
                <a:effectLst/>
                <a:latin typeface="Consolas" panose="020B0609020204030204" pitchFamily="49" charset="0"/>
              </a:rPr>
              <a:t>get_alertsArguments</a:t>
            </a:r>
            <a:r>
              <a:rPr lang="en-US" altLang="zh-CN" sz="1000" b="0" dirty="0">
                <a:solidFill>
                  <a:srgbClr val="CE9178"/>
                </a:solidFill>
                <a:effectLst/>
                <a:latin typeface="Consolas" panose="020B0609020204030204" pitchFamily="49" charset="0"/>
              </a:rPr>
              <a:t>'</a:t>
            </a:r>
            <a:r>
              <a:rPr lang="en-US" altLang="zh-CN" sz="1000" b="0" dirty="0">
                <a:solidFill>
                  <a:srgbClr val="FFFFFF"/>
                </a:solidFill>
                <a:effectLst/>
                <a:latin typeface="Consolas" panose="020B0609020204030204" pitchFamily="49" charset="0"/>
              </a:rPr>
              <a:t>, </a:t>
            </a:r>
            <a:r>
              <a:rPr lang="en-US" altLang="zh-CN" sz="1000" b="0" dirty="0">
                <a:solidFill>
                  <a:srgbClr val="CE9178"/>
                </a:solidFill>
                <a:effectLst/>
                <a:latin typeface="Consolas" panose="020B0609020204030204" pitchFamily="49" charset="0"/>
              </a:rPr>
              <a:t>'type'</a:t>
            </a:r>
            <a:r>
              <a:rPr lang="en-US" altLang="zh-CN" sz="1000" b="0" dirty="0">
                <a:solidFill>
                  <a:srgbClr val="FFFFFF"/>
                </a:solidFill>
                <a:effectLst/>
                <a:latin typeface="Consolas" panose="020B0609020204030204" pitchFamily="49" charset="0"/>
              </a:rPr>
              <a:t>: </a:t>
            </a:r>
            <a:r>
              <a:rPr lang="en-US" altLang="zh-CN" sz="1000" b="0" dirty="0">
                <a:solidFill>
                  <a:srgbClr val="CE9178"/>
                </a:solidFill>
                <a:effectLst/>
                <a:latin typeface="Consolas" panose="020B0609020204030204" pitchFamily="49" charset="0"/>
              </a:rPr>
              <a:t>'object'</a:t>
            </a:r>
            <a:r>
              <a:rPr lang="en-US" altLang="zh-CN" sz="1000" b="0" dirty="0">
                <a:solidFill>
                  <a:srgbClr val="FFFFFF"/>
                </a:solidFill>
                <a:effectLst/>
                <a:latin typeface="Consolas" panose="020B0609020204030204" pitchFamily="49" charset="0"/>
              </a:rPr>
              <a:t>}}</a:t>
            </a:r>
          </a:p>
          <a:p>
            <a:r>
              <a:rPr lang="en-US" altLang="zh-CN" sz="1000" b="0" dirty="0">
                <a:solidFill>
                  <a:srgbClr val="FFFFFF"/>
                </a:solidFill>
                <a:effectLst/>
                <a:latin typeface="Consolas" panose="020B0609020204030204" pitchFamily="49" charset="0"/>
              </a:rPr>
              <a:t>}]</a:t>
            </a:r>
          </a:p>
        </p:txBody>
      </p:sp>
      <p:sp>
        <p:nvSpPr>
          <p:cNvPr id="11" name="文本框 10">
            <a:extLst>
              <a:ext uri="{FF2B5EF4-FFF2-40B4-BE49-F238E27FC236}">
                <a16:creationId xmlns:a16="http://schemas.microsoft.com/office/drawing/2014/main" id="{CC496931-7F9A-408E-B747-60EACD90E52E}"/>
              </a:ext>
            </a:extLst>
          </p:cNvPr>
          <p:cNvSpPr txBox="1"/>
          <p:nvPr/>
        </p:nvSpPr>
        <p:spPr>
          <a:xfrm>
            <a:off x="6494880" y="2811822"/>
            <a:ext cx="5102086" cy="3170099"/>
          </a:xfrm>
          <a:prstGeom prst="rect">
            <a:avLst/>
          </a:prstGeom>
          <a:solidFill>
            <a:schemeClr val="tx1"/>
          </a:solidFill>
        </p:spPr>
        <p:txBody>
          <a:bodyPr wrap="square">
            <a:spAutoFit/>
          </a:bodyPr>
          <a:lstStyle/>
          <a:p>
            <a:r>
              <a:rPr lang="en-US" altLang="zh-CN" sz="1000" b="0" dirty="0">
                <a:solidFill>
                  <a:srgbClr val="7CA668"/>
                </a:solidFill>
                <a:effectLst/>
                <a:latin typeface="Consolas" panose="020B0609020204030204" pitchFamily="49" charset="0"/>
              </a:rPr>
              <a:t># </a:t>
            </a:r>
            <a:r>
              <a:rPr lang="zh-CN" altLang="en-US" sz="1000" b="0" dirty="0">
                <a:solidFill>
                  <a:srgbClr val="7CA668"/>
                </a:solidFill>
                <a:effectLst/>
                <a:latin typeface="Consolas" panose="020B0609020204030204" pitchFamily="49" charset="0"/>
              </a:rPr>
              <a:t>可以对应如下函数</a:t>
            </a:r>
            <a:endParaRPr lang="en-US" altLang="zh-CN" sz="1000" b="0" dirty="0">
              <a:solidFill>
                <a:srgbClr val="FFFFFF"/>
              </a:solidFill>
              <a:effectLst/>
              <a:latin typeface="Consolas" panose="020B0609020204030204" pitchFamily="49" charset="0"/>
            </a:endParaRPr>
          </a:p>
          <a:p>
            <a:br>
              <a:rPr lang="en-US" altLang="zh-CN" sz="1000" b="0" dirty="0">
                <a:solidFill>
                  <a:srgbClr val="FFFFFF"/>
                </a:solidFill>
                <a:effectLst/>
                <a:latin typeface="Consolas" panose="020B0609020204030204" pitchFamily="49" charset="0"/>
              </a:rPr>
            </a:br>
            <a:r>
              <a:rPr lang="en-US" altLang="zh-CN" sz="1000" b="0" dirty="0">
                <a:solidFill>
                  <a:srgbClr val="DCDCAA"/>
                </a:solidFill>
                <a:effectLst/>
                <a:latin typeface="Consolas" panose="020B0609020204030204" pitchFamily="49" charset="0"/>
              </a:rPr>
              <a:t>@mcp.tool</a:t>
            </a:r>
            <a:r>
              <a:rPr lang="en-US" altLang="zh-CN" sz="1000" b="0" dirty="0">
                <a:solidFill>
                  <a:srgbClr val="FFFFFF"/>
                </a:solidFill>
                <a:effectLst/>
                <a:latin typeface="Consolas" panose="020B0609020204030204" pitchFamily="49" charset="0"/>
              </a:rPr>
              <a:t>(</a:t>
            </a:r>
            <a:r>
              <a:rPr lang="en-US" altLang="zh-CN" sz="1000" b="0" dirty="0">
                <a:solidFill>
                  <a:srgbClr val="9CDCFE"/>
                </a:solidFill>
                <a:effectLst/>
                <a:latin typeface="Consolas" panose="020B0609020204030204" pitchFamily="49" charset="0"/>
              </a:rPr>
              <a:t>description</a:t>
            </a:r>
            <a:r>
              <a:rPr lang="en-US" altLang="zh-CN" sz="1000" b="0" dirty="0">
                <a:solidFill>
                  <a:srgbClr val="D4D4D4"/>
                </a:solidFill>
                <a:effectLst/>
                <a:latin typeface="Consolas" panose="020B0609020204030204" pitchFamily="49" charset="0"/>
              </a:rPr>
              <a:t>=</a:t>
            </a:r>
            <a:r>
              <a:rPr lang="en-US" altLang="zh-CN" sz="1000" b="0" dirty="0">
                <a:solidFill>
                  <a:srgbClr val="CE9178"/>
                </a:solidFill>
                <a:effectLst/>
                <a:latin typeface="Consolas" panose="020B0609020204030204" pitchFamily="49" charset="0"/>
              </a:rPr>
              <a:t>"Get weather alerts for a US state."</a:t>
            </a:r>
            <a:r>
              <a:rPr lang="en-US" altLang="zh-CN" sz="1000" b="0" dirty="0">
                <a:solidFill>
                  <a:srgbClr val="FFFFFF"/>
                </a:solidFill>
                <a:effectLst/>
                <a:latin typeface="Consolas" panose="020B0609020204030204" pitchFamily="49" charset="0"/>
              </a:rPr>
              <a:t>)</a:t>
            </a:r>
          </a:p>
          <a:p>
            <a:r>
              <a:rPr lang="en-US" altLang="zh-CN" sz="1000" b="0" dirty="0">
                <a:solidFill>
                  <a:srgbClr val="569CD6"/>
                </a:solidFill>
                <a:effectLst/>
                <a:latin typeface="Consolas" panose="020B0609020204030204" pitchFamily="49" charset="0"/>
              </a:rPr>
              <a:t>async</a:t>
            </a:r>
            <a:r>
              <a:rPr lang="en-US" altLang="zh-CN" sz="1000" b="0" dirty="0">
                <a:solidFill>
                  <a:srgbClr val="FFFFFF"/>
                </a:solidFill>
                <a:effectLst/>
                <a:latin typeface="Consolas" panose="020B0609020204030204" pitchFamily="49" charset="0"/>
              </a:rPr>
              <a:t> </a:t>
            </a:r>
            <a:r>
              <a:rPr lang="en-US" altLang="zh-CN" sz="1000" b="0" dirty="0">
                <a:solidFill>
                  <a:srgbClr val="569CD6"/>
                </a:solidFill>
                <a:effectLst/>
                <a:latin typeface="Consolas" panose="020B0609020204030204" pitchFamily="49" charset="0"/>
              </a:rPr>
              <a:t>def</a:t>
            </a:r>
            <a:r>
              <a:rPr lang="en-US" altLang="zh-CN" sz="1000" b="0" dirty="0">
                <a:solidFill>
                  <a:srgbClr val="FFFFFF"/>
                </a:solidFill>
                <a:effectLst/>
                <a:latin typeface="Consolas" panose="020B0609020204030204" pitchFamily="49" charset="0"/>
              </a:rPr>
              <a:t> </a:t>
            </a:r>
            <a:r>
              <a:rPr lang="en-US" altLang="zh-CN" sz="1000" b="0" dirty="0" err="1">
                <a:solidFill>
                  <a:srgbClr val="DCDCAA"/>
                </a:solidFill>
                <a:effectLst/>
                <a:latin typeface="Consolas" panose="020B0609020204030204" pitchFamily="49" charset="0"/>
              </a:rPr>
              <a:t>get_alerts</a:t>
            </a:r>
            <a:r>
              <a:rPr lang="en-US" altLang="zh-CN" sz="1000" b="0" dirty="0">
                <a:solidFill>
                  <a:srgbClr val="FFFFFF"/>
                </a:solidFill>
                <a:effectLst/>
                <a:latin typeface="Consolas" panose="020B0609020204030204" pitchFamily="49" charset="0"/>
              </a:rPr>
              <a:t>(</a:t>
            </a:r>
            <a:r>
              <a:rPr lang="en-US" altLang="zh-CN" sz="1000" b="0" dirty="0">
                <a:solidFill>
                  <a:srgbClr val="9CDCFE"/>
                </a:solidFill>
                <a:effectLst/>
                <a:latin typeface="Consolas" panose="020B0609020204030204" pitchFamily="49" charset="0"/>
              </a:rPr>
              <a:t>state</a:t>
            </a:r>
            <a:r>
              <a:rPr lang="en-US" altLang="zh-CN" sz="1000" b="0" dirty="0">
                <a:solidFill>
                  <a:srgbClr val="FFFFFF"/>
                </a:solidFill>
                <a:effectLst/>
                <a:latin typeface="Consolas" panose="020B0609020204030204" pitchFamily="49" charset="0"/>
              </a:rPr>
              <a:t>: </a:t>
            </a:r>
            <a:r>
              <a:rPr lang="en-US" altLang="zh-CN" sz="1000" b="0" dirty="0">
                <a:solidFill>
                  <a:srgbClr val="4EC9B0"/>
                </a:solidFill>
                <a:effectLst/>
                <a:latin typeface="Consolas" panose="020B0609020204030204" pitchFamily="49" charset="0"/>
              </a:rPr>
              <a:t>str</a:t>
            </a:r>
            <a:r>
              <a:rPr lang="en-US" altLang="zh-CN" sz="1000" b="0" dirty="0">
                <a:solidFill>
                  <a:srgbClr val="FFFFFF"/>
                </a:solidFill>
                <a:effectLst/>
                <a:latin typeface="Consolas" panose="020B0609020204030204" pitchFamily="49" charset="0"/>
              </a:rPr>
              <a:t>) -&gt; </a:t>
            </a:r>
            <a:r>
              <a:rPr lang="en-US" altLang="zh-CN" sz="1000" b="0" dirty="0">
                <a:solidFill>
                  <a:srgbClr val="4EC9B0"/>
                </a:solidFill>
                <a:effectLst/>
                <a:latin typeface="Consolas" panose="020B0609020204030204" pitchFamily="49" charset="0"/>
              </a:rPr>
              <a:t>str</a:t>
            </a:r>
            <a:r>
              <a:rPr lang="en-US" altLang="zh-CN" sz="1000" b="0" dirty="0">
                <a:solidFill>
                  <a:srgbClr val="FFFFFF"/>
                </a:solidFill>
                <a:effectLst/>
                <a:latin typeface="Consolas" panose="020B0609020204030204" pitchFamily="49" charset="0"/>
              </a:rPr>
              <a:t>:</a:t>
            </a:r>
          </a:p>
          <a:p>
            <a:r>
              <a:rPr lang="en-US" altLang="zh-CN" sz="1000" b="0" dirty="0">
                <a:solidFill>
                  <a:srgbClr val="FFFFFF"/>
                </a:solidFill>
                <a:effectLst/>
                <a:latin typeface="Consolas" panose="020B0609020204030204" pitchFamily="49" charset="0"/>
              </a:rPr>
              <a:t>    </a:t>
            </a:r>
            <a:r>
              <a:rPr lang="en-US" altLang="zh-CN" sz="1000" b="0" dirty="0">
                <a:solidFill>
                  <a:srgbClr val="CE9178"/>
                </a:solidFill>
                <a:effectLst/>
                <a:latin typeface="Consolas" panose="020B0609020204030204" pitchFamily="49" charset="0"/>
              </a:rPr>
              <a:t>"""Get weather alerts for a US state.</a:t>
            </a:r>
            <a:endParaRPr lang="en-US" altLang="zh-CN" sz="1000" b="0" dirty="0">
              <a:solidFill>
                <a:srgbClr val="FFFFFF"/>
              </a:solidFill>
              <a:effectLst/>
              <a:latin typeface="Consolas" panose="020B0609020204030204" pitchFamily="49" charset="0"/>
            </a:endParaRPr>
          </a:p>
          <a:p>
            <a:br>
              <a:rPr lang="en-US" altLang="zh-CN" sz="1000" b="0" dirty="0">
                <a:solidFill>
                  <a:srgbClr val="FFFFFF"/>
                </a:solidFill>
                <a:effectLst/>
                <a:latin typeface="Consolas" panose="020B0609020204030204" pitchFamily="49" charset="0"/>
              </a:rPr>
            </a:br>
            <a:r>
              <a:rPr lang="en-US" altLang="zh-CN" sz="1000" b="0" dirty="0">
                <a:solidFill>
                  <a:srgbClr val="CE9178"/>
                </a:solidFill>
                <a:effectLst/>
                <a:latin typeface="Consolas" panose="020B0609020204030204" pitchFamily="49" charset="0"/>
              </a:rPr>
              <a:t>    </a:t>
            </a:r>
            <a:r>
              <a:rPr lang="en-US" altLang="zh-CN" sz="1000" b="0" dirty="0" err="1">
                <a:solidFill>
                  <a:srgbClr val="CE9178"/>
                </a:solidFill>
                <a:effectLst/>
                <a:latin typeface="Consolas" panose="020B0609020204030204" pitchFamily="49" charset="0"/>
              </a:rPr>
              <a:t>Args</a:t>
            </a:r>
            <a:r>
              <a:rPr lang="en-US" altLang="zh-CN" sz="1000" b="0" dirty="0">
                <a:solidFill>
                  <a:srgbClr val="CE9178"/>
                </a:solidFill>
                <a:effectLst/>
                <a:latin typeface="Consolas" panose="020B0609020204030204" pitchFamily="49" charset="0"/>
              </a:rPr>
              <a:t>:</a:t>
            </a:r>
            <a:endParaRPr lang="en-US" altLang="zh-CN" sz="1000" b="0" dirty="0">
              <a:solidFill>
                <a:srgbClr val="FFFFFF"/>
              </a:solidFill>
              <a:effectLst/>
              <a:latin typeface="Consolas" panose="020B0609020204030204" pitchFamily="49" charset="0"/>
            </a:endParaRPr>
          </a:p>
          <a:p>
            <a:r>
              <a:rPr lang="en-US" altLang="zh-CN" sz="1000" b="0" dirty="0">
                <a:solidFill>
                  <a:srgbClr val="CE9178"/>
                </a:solidFill>
                <a:effectLst/>
                <a:latin typeface="Consolas" panose="020B0609020204030204" pitchFamily="49" charset="0"/>
              </a:rPr>
              <a:t>        state: Two-letter US state code (e.g. CA, NY)</a:t>
            </a:r>
            <a:endParaRPr lang="en-US" altLang="zh-CN" sz="1000" b="0" dirty="0">
              <a:solidFill>
                <a:srgbClr val="FFFFFF"/>
              </a:solidFill>
              <a:effectLst/>
              <a:latin typeface="Consolas" panose="020B0609020204030204" pitchFamily="49" charset="0"/>
            </a:endParaRPr>
          </a:p>
          <a:p>
            <a:r>
              <a:rPr lang="en-US" altLang="zh-CN" sz="1000" b="0" dirty="0">
                <a:solidFill>
                  <a:srgbClr val="CE9178"/>
                </a:solidFill>
                <a:effectLst/>
                <a:latin typeface="Consolas" panose="020B0609020204030204" pitchFamily="49" charset="0"/>
              </a:rPr>
              <a:t>    """</a:t>
            </a:r>
            <a:endParaRPr lang="en-US" altLang="zh-CN" sz="1000" b="0" dirty="0">
              <a:solidFill>
                <a:srgbClr val="FFFFFF"/>
              </a:solidFill>
              <a:effectLst/>
              <a:latin typeface="Consolas" panose="020B0609020204030204" pitchFamily="49" charset="0"/>
            </a:endParaRPr>
          </a:p>
          <a:p>
            <a:r>
              <a:rPr lang="en-US" altLang="zh-CN" sz="1000" b="0" dirty="0">
                <a:solidFill>
                  <a:srgbClr val="FFFFFF"/>
                </a:solidFill>
                <a:effectLst/>
                <a:latin typeface="Consolas" panose="020B0609020204030204" pitchFamily="49" charset="0"/>
              </a:rPr>
              <a:t>    </a:t>
            </a:r>
            <a:r>
              <a:rPr lang="en-US" altLang="zh-CN" sz="1000" b="0" dirty="0" err="1">
                <a:solidFill>
                  <a:srgbClr val="FFFFFF"/>
                </a:solidFill>
                <a:effectLst/>
                <a:latin typeface="Consolas" panose="020B0609020204030204" pitchFamily="49" charset="0"/>
              </a:rPr>
              <a:t>url</a:t>
            </a:r>
            <a:r>
              <a:rPr lang="en-US" altLang="zh-CN" sz="1000" b="0" dirty="0">
                <a:solidFill>
                  <a:srgbClr val="FFFFFF"/>
                </a:solidFill>
                <a:effectLst/>
                <a:latin typeface="Consolas" panose="020B0609020204030204" pitchFamily="49" charset="0"/>
              </a:rPr>
              <a:t> </a:t>
            </a:r>
            <a:r>
              <a:rPr lang="en-US" altLang="zh-CN" sz="1000" b="0" dirty="0">
                <a:solidFill>
                  <a:srgbClr val="D4D4D4"/>
                </a:solidFill>
                <a:effectLst/>
                <a:latin typeface="Consolas" panose="020B0609020204030204" pitchFamily="49" charset="0"/>
              </a:rPr>
              <a:t>=</a:t>
            </a:r>
            <a:r>
              <a:rPr lang="en-US" altLang="zh-CN" sz="1000" b="0" dirty="0">
                <a:solidFill>
                  <a:srgbClr val="FFFFFF"/>
                </a:solidFill>
                <a:effectLst/>
                <a:latin typeface="Consolas" panose="020B0609020204030204" pitchFamily="49" charset="0"/>
              </a:rPr>
              <a:t> </a:t>
            </a:r>
            <a:r>
              <a:rPr lang="en-US" altLang="zh-CN" sz="1000" b="0" dirty="0">
                <a:solidFill>
                  <a:srgbClr val="569CD6"/>
                </a:solidFill>
                <a:effectLst/>
                <a:latin typeface="Consolas" panose="020B0609020204030204" pitchFamily="49" charset="0"/>
              </a:rPr>
              <a:t>f</a:t>
            </a:r>
            <a:r>
              <a:rPr lang="en-US" altLang="zh-CN" sz="1000" b="0" dirty="0">
                <a:solidFill>
                  <a:srgbClr val="CE9178"/>
                </a:solidFill>
                <a:effectLst/>
                <a:latin typeface="Consolas" panose="020B0609020204030204" pitchFamily="49" charset="0"/>
              </a:rPr>
              <a:t>"</a:t>
            </a:r>
            <a:r>
              <a:rPr lang="en-US" altLang="zh-CN" sz="1000" b="0" dirty="0">
                <a:solidFill>
                  <a:srgbClr val="569CD6"/>
                </a:solidFill>
                <a:effectLst/>
                <a:latin typeface="Consolas" panose="020B0609020204030204" pitchFamily="49" charset="0"/>
              </a:rPr>
              <a:t>{</a:t>
            </a:r>
            <a:r>
              <a:rPr lang="en-US" altLang="zh-CN" sz="1000" b="0" dirty="0">
                <a:solidFill>
                  <a:srgbClr val="FFFFFF"/>
                </a:solidFill>
                <a:effectLst/>
                <a:latin typeface="Consolas" panose="020B0609020204030204" pitchFamily="49" charset="0"/>
              </a:rPr>
              <a:t>NWS_API_BASE</a:t>
            </a:r>
            <a:r>
              <a:rPr lang="en-US" altLang="zh-CN" sz="1000" b="0" dirty="0">
                <a:solidFill>
                  <a:srgbClr val="569CD6"/>
                </a:solidFill>
                <a:effectLst/>
                <a:latin typeface="Consolas" panose="020B0609020204030204" pitchFamily="49" charset="0"/>
              </a:rPr>
              <a:t>}</a:t>
            </a:r>
            <a:r>
              <a:rPr lang="en-US" altLang="zh-CN" sz="1000" b="0" dirty="0">
                <a:solidFill>
                  <a:srgbClr val="CE9178"/>
                </a:solidFill>
                <a:effectLst/>
                <a:latin typeface="Consolas" panose="020B0609020204030204" pitchFamily="49" charset="0"/>
              </a:rPr>
              <a:t>/alerts/active/area/</a:t>
            </a:r>
            <a:r>
              <a:rPr lang="en-US" altLang="zh-CN" sz="1000" b="0" dirty="0">
                <a:solidFill>
                  <a:srgbClr val="569CD6"/>
                </a:solidFill>
                <a:effectLst/>
                <a:latin typeface="Consolas" panose="020B0609020204030204" pitchFamily="49" charset="0"/>
              </a:rPr>
              <a:t>{</a:t>
            </a:r>
            <a:r>
              <a:rPr lang="en-US" altLang="zh-CN" sz="1000" b="0" dirty="0">
                <a:solidFill>
                  <a:srgbClr val="FFFFFF"/>
                </a:solidFill>
                <a:effectLst/>
                <a:latin typeface="Consolas" panose="020B0609020204030204" pitchFamily="49" charset="0"/>
              </a:rPr>
              <a:t>state</a:t>
            </a:r>
            <a:r>
              <a:rPr lang="en-US" altLang="zh-CN" sz="1000" b="0" dirty="0">
                <a:solidFill>
                  <a:srgbClr val="569CD6"/>
                </a:solidFill>
                <a:effectLst/>
                <a:latin typeface="Consolas" panose="020B0609020204030204" pitchFamily="49" charset="0"/>
              </a:rPr>
              <a:t>}</a:t>
            </a:r>
            <a:r>
              <a:rPr lang="en-US" altLang="zh-CN" sz="1000" b="0" dirty="0">
                <a:solidFill>
                  <a:srgbClr val="CE9178"/>
                </a:solidFill>
                <a:effectLst/>
                <a:latin typeface="Consolas" panose="020B0609020204030204" pitchFamily="49" charset="0"/>
              </a:rPr>
              <a:t>"</a:t>
            </a:r>
            <a:endParaRPr lang="en-US" altLang="zh-CN" sz="1000" b="0" dirty="0">
              <a:solidFill>
                <a:srgbClr val="FFFFFF"/>
              </a:solidFill>
              <a:effectLst/>
              <a:latin typeface="Consolas" panose="020B0609020204030204" pitchFamily="49" charset="0"/>
            </a:endParaRPr>
          </a:p>
          <a:p>
            <a:r>
              <a:rPr lang="en-US" altLang="zh-CN" sz="1000" b="0" dirty="0">
                <a:solidFill>
                  <a:srgbClr val="FFFFFF"/>
                </a:solidFill>
                <a:effectLst/>
                <a:latin typeface="Consolas" panose="020B0609020204030204" pitchFamily="49" charset="0"/>
              </a:rPr>
              <a:t>    data </a:t>
            </a:r>
            <a:r>
              <a:rPr lang="en-US" altLang="zh-CN" sz="1000" b="0" dirty="0">
                <a:solidFill>
                  <a:srgbClr val="D4D4D4"/>
                </a:solidFill>
                <a:effectLst/>
                <a:latin typeface="Consolas" panose="020B0609020204030204" pitchFamily="49" charset="0"/>
              </a:rPr>
              <a:t>=</a:t>
            </a:r>
            <a:r>
              <a:rPr lang="en-US" altLang="zh-CN" sz="1000" b="0" dirty="0">
                <a:solidFill>
                  <a:srgbClr val="FFFFFF"/>
                </a:solidFill>
                <a:effectLst/>
                <a:latin typeface="Consolas" panose="020B0609020204030204" pitchFamily="49" charset="0"/>
              </a:rPr>
              <a:t> </a:t>
            </a:r>
            <a:r>
              <a:rPr lang="en-US" altLang="zh-CN" sz="1000" b="0" dirty="0">
                <a:solidFill>
                  <a:srgbClr val="C586C0"/>
                </a:solidFill>
                <a:effectLst/>
                <a:latin typeface="Consolas" panose="020B0609020204030204" pitchFamily="49" charset="0"/>
              </a:rPr>
              <a:t>await</a:t>
            </a:r>
            <a:r>
              <a:rPr lang="en-US" altLang="zh-CN" sz="1000" b="0" dirty="0">
                <a:solidFill>
                  <a:srgbClr val="FFFFFF"/>
                </a:solidFill>
                <a:effectLst/>
                <a:latin typeface="Consolas" panose="020B0609020204030204" pitchFamily="49" charset="0"/>
              </a:rPr>
              <a:t> </a:t>
            </a:r>
            <a:r>
              <a:rPr lang="en-US" altLang="zh-CN" sz="1000" b="0" dirty="0" err="1">
                <a:solidFill>
                  <a:srgbClr val="FFFFFF"/>
                </a:solidFill>
                <a:effectLst/>
                <a:latin typeface="Consolas" panose="020B0609020204030204" pitchFamily="49" charset="0"/>
              </a:rPr>
              <a:t>make_nws_request</a:t>
            </a:r>
            <a:r>
              <a:rPr lang="en-US" altLang="zh-CN" sz="1000" b="0" dirty="0">
                <a:solidFill>
                  <a:srgbClr val="FFFFFF"/>
                </a:solidFill>
                <a:effectLst/>
                <a:latin typeface="Consolas" panose="020B0609020204030204" pitchFamily="49" charset="0"/>
              </a:rPr>
              <a:t>(</a:t>
            </a:r>
            <a:r>
              <a:rPr lang="en-US" altLang="zh-CN" sz="1000" b="0" dirty="0" err="1">
                <a:solidFill>
                  <a:srgbClr val="FFFFFF"/>
                </a:solidFill>
                <a:effectLst/>
                <a:latin typeface="Consolas" panose="020B0609020204030204" pitchFamily="49" charset="0"/>
              </a:rPr>
              <a:t>url</a:t>
            </a:r>
            <a:r>
              <a:rPr lang="en-US" altLang="zh-CN" sz="1000" b="0" dirty="0">
                <a:solidFill>
                  <a:srgbClr val="FFFFFF"/>
                </a:solidFill>
                <a:effectLst/>
                <a:latin typeface="Consolas" panose="020B0609020204030204" pitchFamily="49" charset="0"/>
              </a:rPr>
              <a:t>)</a:t>
            </a:r>
          </a:p>
          <a:p>
            <a:br>
              <a:rPr lang="en-US" altLang="zh-CN" sz="1000" b="0" dirty="0">
                <a:solidFill>
                  <a:srgbClr val="FFFFFF"/>
                </a:solidFill>
                <a:effectLst/>
                <a:latin typeface="Consolas" panose="020B0609020204030204" pitchFamily="49" charset="0"/>
              </a:rPr>
            </a:br>
            <a:r>
              <a:rPr lang="en-US" altLang="zh-CN" sz="1000" b="0" dirty="0">
                <a:solidFill>
                  <a:srgbClr val="FFFFFF"/>
                </a:solidFill>
                <a:effectLst/>
                <a:latin typeface="Consolas" panose="020B0609020204030204" pitchFamily="49" charset="0"/>
              </a:rPr>
              <a:t>    </a:t>
            </a:r>
            <a:r>
              <a:rPr lang="en-US" altLang="zh-CN" sz="1000" b="0" dirty="0">
                <a:solidFill>
                  <a:srgbClr val="C586C0"/>
                </a:solidFill>
                <a:effectLst/>
                <a:latin typeface="Consolas" panose="020B0609020204030204" pitchFamily="49" charset="0"/>
              </a:rPr>
              <a:t>if</a:t>
            </a:r>
            <a:r>
              <a:rPr lang="en-US" altLang="zh-CN" sz="1000" b="0" dirty="0">
                <a:solidFill>
                  <a:srgbClr val="FFFFFF"/>
                </a:solidFill>
                <a:effectLst/>
                <a:latin typeface="Consolas" panose="020B0609020204030204" pitchFamily="49" charset="0"/>
              </a:rPr>
              <a:t> </a:t>
            </a:r>
            <a:r>
              <a:rPr lang="en-US" altLang="zh-CN" sz="1000" b="0" dirty="0">
                <a:solidFill>
                  <a:srgbClr val="569CD6"/>
                </a:solidFill>
                <a:effectLst/>
                <a:latin typeface="Consolas" panose="020B0609020204030204" pitchFamily="49" charset="0"/>
              </a:rPr>
              <a:t>not</a:t>
            </a:r>
            <a:r>
              <a:rPr lang="en-US" altLang="zh-CN" sz="1000" b="0" dirty="0">
                <a:solidFill>
                  <a:srgbClr val="FFFFFF"/>
                </a:solidFill>
                <a:effectLst/>
                <a:latin typeface="Consolas" panose="020B0609020204030204" pitchFamily="49" charset="0"/>
              </a:rPr>
              <a:t> data </a:t>
            </a:r>
            <a:r>
              <a:rPr lang="en-US" altLang="zh-CN" sz="1000" b="0" dirty="0">
                <a:solidFill>
                  <a:srgbClr val="569CD6"/>
                </a:solidFill>
                <a:effectLst/>
                <a:latin typeface="Consolas" panose="020B0609020204030204" pitchFamily="49" charset="0"/>
              </a:rPr>
              <a:t>or</a:t>
            </a:r>
            <a:r>
              <a:rPr lang="en-US" altLang="zh-CN" sz="1000" b="0" dirty="0">
                <a:solidFill>
                  <a:srgbClr val="FFFFFF"/>
                </a:solidFill>
                <a:effectLst/>
                <a:latin typeface="Consolas" panose="020B0609020204030204" pitchFamily="49" charset="0"/>
              </a:rPr>
              <a:t> </a:t>
            </a:r>
            <a:r>
              <a:rPr lang="en-US" altLang="zh-CN" sz="1000" b="0" dirty="0">
                <a:solidFill>
                  <a:srgbClr val="CE9178"/>
                </a:solidFill>
                <a:effectLst/>
                <a:latin typeface="Consolas" panose="020B0609020204030204" pitchFamily="49" charset="0"/>
              </a:rPr>
              <a:t>"features"</a:t>
            </a:r>
            <a:r>
              <a:rPr lang="en-US" altLang="zh-CN" sz="1000" b="0" dirty="0">
                <a:solidFill>
                  <a:srgbClr val="FFFFFF"/>
                </a:solidFill>
                <a:effectLst/>
                <a:latin typeface="Consolas" panose="020B0609020204030204" pitchFamily="49" charset="0"/>
              </a:rPr>
              <a:t> </a:t>
            </a:r>
            <a:r>
              <a:rPr lang="en-US" altLang="zh-CN" sz="1000" b="0" dirty="0">
                <a:solidFill>
                  <a:srgbClr val="569CD6"/>
                </a:solidFill>
                <a:effectLst/>
                <a:latin typeface="Consolas" panose="020B0609020204030204" pitchFamily="49" charset="0"/>
              </a:rPr>
              <a:t>not</a:t>
            </a:r>
            <a:r>
              <a:rPr lang="en-US" altLang="zh-CN" sz="1000" b="0" dirty="0">
                <a:solidFill>
                  <a:srgbClr val="FFFFFF"/>
                </a:solidFill>
                <a:effectLst/>
                <a:latin typeface="Consolas" panose="020B0609020204030204" pitchFamily="49" charset="0"/>
              </a:rPr>
              <a:t> </a:t>
            </a:r>
            <a:r>
              <a:rPr lang="en-US" altLang="zh-CN" sz="1000" b="0" dirty="0">
                <a:solidFill>
                  <a:srgbClr val="569CD6"/>
                </a:solidFill>
                <a:effectLst/>
                <a:latin typeface="Consolas" panose="020B0609020204030204" pitchFamily="49" charset="0"/>
              </a:rPr>
              <a:t>in</a:t>
            </a:r>
            <a:r>
              <a:rPr lang="en-US" altLang="zh-CN" sz="1000" b="0" dirty="0">
                <a:solidFill>
                  <a:srgbClr val="FFFFFF"/>
                </a:solidFill>
                <a:effectLst/>
                <a:latin typeface="Consolas" panose="020B0609020204030204" pitchFamily="49" charset="0"/>
              </a:rPr>
              <a:t> data:</a:t>
            </a:r>
          </a:p>
          <a:p>
            <a:r>
              <a:rPr lang="en-US" altLang="zh-CN" sz="1000" b="0" dirty="0">
                <a:solidFill>
                  <a:srgbClr val="FFFFFF"/>
                </a:solidFill>
                <a:effectLst/>
                <a:latin typeface="Consolas" panose="020B0609020204030204" pitchFamily="49" charset="0"/>
              </a:rPr>
              <a:t>        </a:t>
            </a:r>
            <a:r>
              <a:rPr lang="en-US" altLang="zh-CN" sz="1000" b="0" dirty="0">
                <a:solidFill>
                  <a:srgbClr val="C586C0"/>
                </a:solidFill>
                <a:effectLst/>
                <a:latin typeface="Consolas" panose="020B0609020204030204" pitchFamily="49" charset="0"/>
              </a:rPr>
              <a:t>return</a:t>
            </a:r>
            <a:r>
              <a:rPr lang="en-US" altLang="zh-CN" sz="1000" b="0" dirty="0">
                <a:solidFill>
                  <a:srgbClr val="FFFFFF"/>
                </a:solidFill>
                <a:effectLst/>
                <a:latin typeface="Consolas" panose="020B0609020204030204" pitchFamily="49" charset="0"/>
              </a:rPr>
              <a:t> </a:t>
            </a:r>
            <a:r>
              <a:rPr lang="en-US" altLang="zh-CN" sz="1000" b="0" dirty="0">
                <a:solidFill>
                  <a:srgbClr val="CE9178"/>
                </a:solidFill>
                <a:effectLst/>
                <a:latin typeface="Consolas" panose="020B0609020204030204" pitchFamily="49" charset="0"/>
              </a:rPr>
              <a:t>"Unable to fetch alerts or no alerts found."</a:t>
            </a:r>
            <a:endParaRPr lang="en-US" altLang="zh-CN" sz="1000" b="0" dirty="0">
              <a:solidFill>
                <a:srgbClr val="FFFFFF"/>
              </a:solidFill>
              <a:effectLst/>
              <a:latin typeface="Consolas" panose="020B0609020204030204" pitchFamily="49" charset="0"/>
            </a:endParaRPr>
          </a:p>
          <a:p>
            <a:br>
              <a:rPr lang="en-US" altLang="zh-CN" sz="1000" b="0" dirty="0">
                <a:solidFill>
                  <a:srgbClr val="FFFFFF"/>
                </a:solidFill>
                <a:effectLst/>
                <a:latin typeface="Consolas" panose="020B0609020204030204" pitchFamily="49" charset="0"/>
              </a:rPr>
            </a:br>
            <a:r>
              <a:rPr lang="en-US" altLang="zh-CN" sz="1000" b="0" dirty="0">
                <a:solidFill>
                  <a:srgbClr val="FFFFFF"/>
                </a:solidFill>
                <a:effectLst/>
                <a:latin typeface="Consolas" panose="020B0609020204030204" pitchFamily="49" charset="0"/>
              </a:rPr>
              <a:t>    </a:t>
            </a:r>
            <a:r>
              <a:rPr lang="en-US" altLang="zh-CN" sz="1000" b="0" dirty="0">
                <a:solidFill>
                  <a:srgbClr val="C586C0"/>
                </a:solidFill>
                <a:effectLst/>
                <a:latin typeface="Consolas" panose="020B0609020204030204" pitchFamily="49" charset="0"/>
              </a:rPr>
              <a:t>if</a:t>
            </a:r>
            <a:r>
              <a:rPr lang="en-US" altLang="zh-CN" sz="1000" b="0" dirty="0">
                <a:solidFill>
                  <a:srgbClr val="FFFFFF"/>
                </a:solidFill>
                <a:effectLst/>
                <a:latin typeface="Consolas" panose="020B0609020204030204" pitchFamily="49" charset="0"/>
              </a:rPr>
              <a:t> </a:t>
            </a:r>
            <a:r>
              <a:rPr lang="en-US" altLang="zh-CN" sz="1000" b="0" dirty="0">
                <a:solidFill>
                  <a:srgbClr val="569CD6"/>
                </a:solidFill>
                <a:effectLst/>
                <a:latin typeface="Consolas" panose="020B0609020204030204" pitchFamily="49" charset="0"/>
              </a:rPr>
              <a:t>not</a:t>
            </a:r>
            <a:r>
              <a:rPr lang="en-US" altLang="zh-CN" sz="1000" b="0" dirty="0">
                <a:solidFill>
                  <a:srgbClr val="FFFFFF"/>
                </a:solidFill>
                <a:effectLst/>
                <a:latin typeface="Consolas" panose="020B0609020204030204" pitchFamily="49" charset="0"/>
              </a:rPr>
              <a:t> data[</a:t>
            </a:r>
            <a:r>
              <a:rPr lang="en-US" altLang="zh-CN" sz="1000" b="0" dirty="0">
                <a:solidFill>
                  <a:srgbClr val="CE9178"/>
                </a:solidFill>
                <a:effectLst/>
                <a:latin typeface="Consolas" panose="020B0609020204030204" pitchFamily="49" charset="0"/>
              </a:rPr>
              <a:t>"features"</a:t>
            </a:r>
            <a:r>
              <a:rPr lang="en-US" altLang="zh-CN" sz="1000" b="0" dirty="0">
                <a:solidFill>
                  <a:srgbClr val="FFFFFF"/>
                </a:solidFill>
                <a:effectLst/>
                <a:latin typeface="Consolas" panose="020B0609020204030204" pitchFamily="49" charset="0"/>
              </a:rPr>
              <a:t>]:</a:t>
            </a:r>
          </a:p>
          <a:p>
            <a:r>
              <a:rPr lang="en-US" altLang="zh-CN" sz="1000" b="0" dirty="0">
                <a:solidFill>
                  <a:srgbClr val="FFFFFF"/>
                </a:solidFill>
                <a:effectLst/>
                <a:latin typeface="Consolas" panose="020B0609020204030204" pitchFamily="49" charset="0"/>
              </a:rPr>
              <a:t>        </a:t>
            </a:r>
            <a:r>
              <a:rPr lang="en-US" altLang="zh-CN" sz="1000" b="0" dirty="0">
                <a:solidFill>
                  <a:srgbClr val="C586C0"/>
                </a:solidFill>
                <a:effectLst/>
                <a:latin typeface="Consolas" panose="020B0609020204030204" pitchFamily="49" charset="0"/>
              </a:rPr>
              <a:t>return</a:t>
            </a:r>
            <a:r>
              <a:rPr lang="en-US" altLang="zh-CN" sz="1000" b="0" dirty="0">
                <a:solidFill>
                  <a:srgbClr val="FFFFFF"/>
                </a:solidFill>
                <a:effectLst/>
                <a:latin typeface="Consolas" panose="020B0609020204030204" pitchFamily="49" charset="0"/>
              </a:rPr>
              <a:t> </a:t>
            </a:r>
            <a:r>
              <a:rPr lang="en-US" altLang="zh-CN" sz="1000" b="0" dirty="0">
                <a:solidFill>
                  <a:srgbClr val="CE9178"/>
                </a:solidFill>
                <a:effectLst/>
                <a:latin typeface="Consolas" panose="020B0609020204030204" pitchFamily="49" charset="0"/>
              </a:rPr>
              <a:t>"No active alerts for this state."</a:t>
            </a:r>
            <a:endParaRPr lang="en-US" altLang="zh-CN" sz="1000" b="0" dirty="0">
              <a:solidFill>
                <a:srgbClr val="FFFFFF"/>
              </a:solidFill>
              <a:effectLst/>
              <a:latin typeface="Consolas" panose="020B0609020204030204" pitchFamily="49" charset="0"/>
            </a:endParaRPr>
          </a:p>
          <a:p>
            <a:br>
              <a:rPr lang="en-US" altLang="zh-CN" sz="1000" b="0" dirty="0">
                <a:solidFill>
                  <a:srgbClr val="FFFFFF"/>
                </a:solidFill>
                <a:effectLst/>
                <a:latin typeface="Consolas" panose="020B0609020204030204" pitchFamily="49" charset="0"/>
              </a:rPr>
            </a:br>
            <a:r>
              <a:rPr lang="en-US" altLang="zh-CN" sz="1000" b="0" dirty="0">
                <a:solidFill>
                  <a:srgbClr val="FFFFFF"/>
                </a:solidFill>
                <a:effectLst/>
                <a:latin typeface="Consolas" panose="020B0609020204030204" pitchFamily="49" charset="0"/>
              </a:rPr>
              <a:t>    alerts </a:t>
            </a:r>
            <a:r>
              <a:rPr lang="en-US" altLang="zh-CN" sz="1000" b="0" dirty="0">
                <a:solidFill>
                  <a:srgbClr val="D4D4D4"/>
                </a:solidFill>
                <a:effectLst/>
                <a:latin typeface="Consolas" panose="020B0609020204030204" pitchFamily="49" charset="0"/>
              </a:rPr>
              <a:t>=</a:t>
            </a:r>
            <a:r>
              <a:rPr lang="en-US" altLang="zh-CN" sz="1000" b="0" dirty="0">
                <a:solidFill>
                  <a:srgbClr val="FFFFFF"/>
                </a:solidFill>
                <a:effectLst/>
                <a:latin typeface="Consolas" panose="020B0609020204030204" pitchFamily="49" charset="0"/>
              </a:rPr>
              <a:t> [</a:t>
            </a:r>
            <a:r>
              <a:rPr lang="en-US" altLang="zh-CN" sz="1000" b="0" dirty="0" err="1">
                <a:solidFill>
                  <a:srgbClr val="FFFFFF"/>
                </a:solidFill>
                <a:effectLst/>
                <a:latin typeface="Consolas" panose="020B0609020204030204" pitchFamily="49" charset="0"/>
              </a:rPr>
              <a:t>format_alert</a:t>
            </a:r>
            <a:r>
              <a:rPr lang="en-US" altLang="zh-CN" sz="1000" b="0" dirty="0">
                <a:solidFill>
                  <a:srgbClr val="FFFFFF"/>
                </a:solidFill>
                <a:effectLst/>
                <a:latin typeface="Consolas" panose="020B0609020204030204" pitchFamily="49" charset="0"/>
              </a:rPr>
              <a:t>(feature) </a:t>
            </a:r>
            <a:r>
              <a:rPr lang="en-US" altLang="zh-CN" sz="1000" b="0" dirty="0">
                <a:solidFill>
                  <a:srgbClr val="C586C0"/>
                </a:solidFill>
                <a:effectLst/>
                <a:latin typeface="Consolas" panose="020B0609020204030204" pitchFamily="49" charset="0"/>
              </a:rPr>
              <a:t>for</a:t>
            </a:r>
            <a:r>
              <a:rPr lang="en-US" altLang="zh-CN" sz="1000" b="0" dirty="0">
                <a:solidFill>
                  <a:srgbClr val="FFFFFF"/>
                </a:solidFill>
                <a:effectLst/>
                <a:latin typeface="Consolas" panose="020B0609020204030204" pitchFamily="49" charset="0"/>
              </a:rPr>
              <a:t> feature </a:t>
            </a:r>
            <a:r>
              <a:rPr lang="en-US" altLang="zh-CN" sz="1000" b="0" dirty="0">
                <a:solidFill>
                  <a:srgbClr val="C586C0"/>
                </a:solidFill>
                <a:effectLst/>
                <a:latin typeface="Consolas" panose="020B0609020204030204" pitchFamily="49" charset="0"/>
              </a:rPr>
              <a:t>in</a:t>
            </a:r>
            <a:r>
              <a:rPr lang="en-US" altLang="zh-CN" sz="1000" b="0" dirty="0">
                <a:solidFill>
                  <a:srgbClr val="FFFFFF"/>
                </a:solidFill>
                <a:effectLst/>
                <a:latin typeface="Consolas" panose="020B0609020204030204" pitchFamily="49" charset="0"/>
              </a:rPr>
              <a:t> data[</a:t>
            </a:r>
            <a:r>
              <a:rPr lang="en-US" altLang="zh-CN" sz="1000" b="0" dirty="0">
                <a:solidFill>
                  <a:srgbClr val="CE9178"/>
                </a:solidFill>
                <a:effectLst/>
                <a:latin typeface="Consolas" panose="020B0609020204030204" pitchFamily="49" charset="0"/>
              </a:rPr>
              <a:t>"features"</a:t>
            </a:r>
            <a:r>
              <a:rPr lang="en-US" altLang="zh-CN" sz="1000" b="0" dirty="0">
                <a:solidFill>
                  <a:srgbClr val="FFFFFF"/>
                </a:solidFill>
                <a:effectLst/>
                <a:latin typeface="Consolas" panose="020B0609020204030204" pitchFamily="49" charset="0"/>
              </a:rPr>
              <a:t>]]</a:t>
            </a:r>
          </a:p>
          <a:p>
            <a:r>
              <a:rPr lang="en-US" altLang="zh-CN" sz="1000" b="0" dirty="0">
                <a:solidFill>
                  <a:srgbClr val="FFFFFF"/>
                </a:solidFill>
                <a:effectLst/>
                <a:latin typeface="Consolas" panose="020B0609020204030204" pitchFamily="49" charset="0"/>
              </a:rPr>
              <a:t>    </a:t>
            </a:r>
            <a:r>
              <a:rPr lang="en-US" altLang="zh-CN" sz="1000" b="0" dirty="0">
                <a:solidFill>
                  <a:srgbClr val="C586C0"/>
                </a:solidFill>
                <a:effectLst/>
                <a:latin typeface="Consolas" panose="020B0609020204030204" pitchFamily="49" charset="0"/>
              </a:rPr>
              <a:t>return</a:t>
            </a:r>
            <a:r>
              <a:rPr lang="en-US" altLang="zh-CN" sz="1000" b="0" dirty="0">
                <a:solidFill>
                  <a:srgbClr val="FFFFFF"/>
                </a:solidFill>
                <a:effectLst/>
                <a:latin typeface="Consolas" panose="020B0609020204030204" pitchFamily="49" charset="0"/>
              </a:rPr>
              <a:t> </a:t>
            </a:r>
            <a:r>
              <a:rPr lang="en-US" altLang="zh-CN" sz="1000" b="0" dirty="0">
                <a:solidFill>
                  <a:srgbClr val="CE9178"/>
                </a:solidFill>
                <a:effectLst/>
                <a:latin typeface="Consolas" panose="020B0609020204030204" pitchFamily="49" charset="0"/>
              </a:rPr>
              <a:t>"</a:t>
            </a:r>
            <a:r>
              <a:rPr lang="en-US" altLang="zh-CN" sz="1000" b="0" dirty="0">
                <a:solidFill>
                  <a:srgbClr val="569CD6"/>
                </a:solidFill>
                <a:effectLst/>
                <a:latin typeface="Consolas" panose="020B0609020204030204" pitchFamily="49" charset="0"/>
              </a:rPr>
              <a:t>\n</a:t>
            </a:r>
            <a:r>
              <a:rPr lang="en-US" altLang="zh-CN" sz="1000" b="0" dirty="0">
                <a:solidFill>
                  <a:srgbClr val="CE9178"/>
                </a:solidFill>
                <a:effectLst/>
                <a:latin typeface="Consolas" panose="020B0609020204030204" pitchFamily="49" charset="0"/>
              </a:rPr>
              <a:t>---</a:t>
            </a:r>
            <a:r>
              <a:rPr lang="en-US" altLang="zh-CN" sz="1000" b="0" dirty="0">
                <a:solidFill>
                  <a:srgbClr val="569CD6"/>
                </a:solidFill>
                <a:effectLst/>
                <a:latin typeface="Consolas" panose="020B0609020204030204" pitchFamily="49" charset="0"/>
              </a:rPr>
              <a:t>\</a:t>
            </a:r>
            <a:r>
              <a:rPr lang="en-US" altLang="zh-CN" sz="1000" b="0" dirty="0" err="1">
                <a:solidFill>
                  <a:srgbClr val="569CD6"/>
                </a:solidFill>
                <a:effectLst/>
                <a:latin typeface="Consolas" panose="020B0609020204030204" pitchFamily="49" charset="0"/>
              </a:rPr>
              <a:t>n</a:t>
            </a:r>
            <a:r>
              <a:rPr lang="en-US" altLang="zh-CN" sz="1000" b="0" dirty="0" err="1">
                <a:solidFill>
                  <a:srgbClr val="CE9178"/>
                </a:solidFill>
                <a:effectLst/>
                <a:latin typeface="Consolas" panose="020B0609020204030204" pitchFamily="49" charset="0"/>
              </a:rPr>
              <a:t>"</a:t>
            </a:r>
            <a:r>
              <a:rPr lang="en-US" altLang="zh-CN" sz="1000" b="0" dirty="0" err="1">
                <a:solidFill>
                  <a:srgbClr val="FFFFFF"/>
                </a:solidFill>
                <a:effectLst/>
                <a:latin typeface="Consolas" panose="020B0609020204030204" pitchFamily="49" charset="0"/>
              </a:rPr>
              <a:t>.join</a:t>
            </a:r>
            <a:r>
              <a:rPr lang="en-US" altLang="zh-CN" sz="1000" b="0" dirty="0">
                <a:solidFill>
                  <a:srgbClr val="FFFFFF"/>
                </a:solidFill>
                <a:effectLst/>
                <a:latin typeface="Consolas" panose="020B0609020204030204" pitchFamily="49" charset="0"/>
              </a:rPr>
              <a:t>(alerts)</a:t>
            </a:r>
          </a:p>
        </p:txBody>
      </p:sp>
    </p:spTree>
    <p:extLst>
      <p:ext uri="{BB962C8B-B14F-4D97-AF65-F5344CB8AC3E}">
        <p14:creationId xmlns:p14="http://schemas.microsoft.com/office/powerpoint/2010/main" val="31185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3ECFAA8-87DC-48AF-9273-0EC0FBC99815}"/>
              </a:ext>
            </a:extLst>
          </p:cNvPr>
          <p:cNvSpPr txBox="1"/>
          <p:nvPr/>
        </p:nvSpPr>
        <p:spPr>
          <a:xfrm>
            <a:off x="678760" y="344556"/>
            <a:ext cx="3140765" cy="369332"/>
          </a:xfrm>
          <a:prstGeom prst="rect">
            <a:avLst/>
          </a:prstGeom>
          <a:noFill/>
        </p:spPr>
        <p:txBody>
          <a:bodyPr wrap="square" rtlCol="0">
            <a:spAutoFit/>
          </a:bodyPr>
          <a:lstStyle/>
          <a:p>
            <a:r>
              <a:rPr lang="en-US" altLang="zh-CN" b="0" dirty="0">
                <a:solidFill>
                  <a:srgbClr val="000000"/>
                </a:solidFill>
                <a:effectLst/>
                <a:latin typeface="Consolas" panose="020B0609020204030204" pitchFamily="49" charset="0"/>
              </a:rPr>
              <a:t>MCP</a:t>
            </a:r>
            <a:r>
              <a:rPr lang="zh-CN" altLang="en-US" b="0" dirty="0">
                <a:solidFill>
                  <a:srgbClr val="000000"/>
                </a:solidFill>
                <a:effectLst/>
                <a:latin typeface="Consolas" panose="020B0609020204030204" pitchFamily="49" charset="0"/>
              </a:rPr>
              <a:t>在项目中的使用</a:t>
            </a:r>
            <a:endParaRPr lang="en-US" altLang="zh-CN" b="0" dirty="0">
              <a:solidFill>
                <a:srgbClr val="000000"/>
              </a:solidFill>
              <a:effectLst/>
              <a:latin typeface="Consolas" panose="020B0609020204030204" pitchFamily="49" charset="0"/>
            </a:endParaRPr>
          </a:p>
        </p:txBody>
      </p:sp>
      <p:sp>
        <p:nvSpPr>
          <p:cNvPr id="3" name="矩形 2">
            <a:extLst>
              <a:ext uri="{FF2B5EF4-FFF2-40B4-BE49-F238E27FC236}">
                <a16:creationId xmlns:a16="http://schemas.microsoft.com/office/drawing/2014/main" id="{87686569-81BE-47D1-88E5-196CC0F0837D}"/>
              </a:ext>
            </a:extLst>
          </p:cNvPr>
          <p:cNvSpPr/>
          <p:nvPr/>
        </p:nvSpPr>
        <p:spPr>
          <a:xfrm>
            <a:off x="762001" y="2079291"/>
            <a:ext cx="1583634" cy="57646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err="1"/>
              <a:t>AgentSystem</a:t>
            </a:r>
            <a:endParaRPr lang="zh-CN" altLang="en-US" dirty="0"/>
          </a:p>
        </p:txBody>
      </p:sp>
      <p:sp>
        <p:nvSpPr>
          <p:cNvPr id="6" name="矩形 5">
            <a:extLst>
              <a:ext uri="{FF2B5EF4-FFF2-40B4-BE49-F238E27FC236}">
                <a16:creationId xmlns:a16="http://schemas.microsoft.com/office/drawing/2014/main" id="{12CD26C0-5A02-4C9E-B049-94D108BA77EE}"/>
              </a:ext>
            </a:extLst>
          </p:cNvPr>
          <p:cNvSpPr/>
          <p:nvPr/>
        </p:nvSpPr>
        <p:spPr>
          <a:xfrm>
            <a:off x="775253" y="1183040"/>
            <a:ext cx="1570382" cy="5764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用户请求</a:t>
            </a:r>
          </a:p>
        </p:txBody>
      </p:sp>
      <p:cxnSp>
        <p:nvCxnSpPr>
          <p:cNvPr id="8" name="直接箭头连接符 7">
            <a:extLst>
              <a:ext uri="{FF2B5EF4-FFF2-40B4-BE49-F238E27FC236}">
                <a16:creationId xmlns:a16="http://schemas.microsoft.com/office/drawing/2014/main" id="{C3E1BB97-067E-45F2-9AC1-8BAF7E5D4EB6}"/>
              </a:ext>
            </a:extLst>
          </p:cNvPr>
          <p:cNvCxnSpPr>
            <a:stCxn id="6" idx="2"/>
            <a:endCxn id="3" idx="0"/>
          </p:cNvCxnSpPr>
          <p:nvPr/>
        </p:nvCxnSpPr>
        <p:spPr>
          <a:xfrm flipH="1">
            <a:off x="1553818" y="1759509"/>
            <a:ext cx="6626" cy="3197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6FF074B4-6673-48D4-8365-7798FD1C8091}"/>
              </a:ext>
            </a:extLst>
          </p:cNvPr>
          <p:cNvSpPr/>
          <p:nvPr/>
        </p:nvSpPr>
        <p:spPr>
          <a:xfrm>
            <a:off x="4993997" y="2085573"/>
            <a:ext cx="2177084" cy="5764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ln w="0"/>
                <a:solidFill>
                  <a:schemeClr val="bg1"/>
                </a:solidFill>
                <a:effectLst>
                  <a:outerShdw blurRad="38100" dist="25400" dir="5400000" algn="ctr" rotWithShape="0">
                    <a:srgbClr val="6E747A">
                      <a:alpha val="43000"/>
                    </a:srgbClr>
                  </a:outerShdw>
                </a:effectLst>
              </a:rPr>
              <a:t>AgentManager</a:t>
            </a:r>
            <a:endParaRPr lang="zh-CN" altLang="en-US" dirty="0">
              <a:ln w="0"/>
              <a:solidFill>
                <a:schemeClr val="bg1"/>
              </a:solidFill>
              <a:effectLst>
                <a:outerShdw blurRad="38100" dist="25400" dir="5400000" algn="ctr" rotWithShape="0">
                  <a:srgbClr val="6E747A">
                    <a:alpha val="43000"/>
                  </a:srgbClr>
                </a:outerShdw>
              </a:effectLst>
            </a:endParaRPr>
          </a:p>
        </p:txBody>
      </p:sp>
      <p:cxnSp>
        <p:nvCxnSpPr>
          <p:cNvPr id="13" name="直接箭头连接符 12">
            <a:extLst>
              <a:ext uri="{FF2B5EF4-FFF2-40B4-BE49-F238E27FC236}">
                <a16:creationId xmlns:a16="http://schemas.microsoft.com/office/drawing/2014/main" id="{A87003D8-3027-4599-828A-DA7B4EEBB23E}"/>
              </a:ext>
            </a:extLst>
          </p:cNvPr>
          <p:cNvCxnSpPr>
            <a:cxnSpLocks/>
            <a:stCxn id="3" idx="3"/>
            <a:endCxn id="10" idx="1"/>
          </p:cNvCxnSpPr>
          <p:nvPr/>
        </p:nvCxnSpPr>
        <p:spPr>
          <a:xfrm>
            <a:off x="2345635" y="2367526"/>
            <a:ext cx="2648362" cy="6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D15F3B9F-618C-44CA-9B8D-48190D4C4EFB}"/>
              </a:ext>
            </a:extLst>
          </p:cNvPr>
          <p:cNvSpPr txBox="1"/>
          <p:nvPr/>
        </p:nvSpPr>
        <p:spPr>
          <a:xfrm>
            <a:off x="2426599" y="1290307"/>
            <a:ext cx="2548351" cy="1077218"/>
          </a:xfrm>
          <a:prstGeom prst="rect">
            <a:avLst/>
          </a:prstGeom>
          <a:noFill/>
        </p:spPr>
        <p:txBody>
          <a:bodyPr wrap="square" rtlCol="0">
            <a:spAutoFit/>
          </a:bodyPr>
          <a:lstStyle/>
          <a:p>
            <a:r>
              <a:rPr lang="zh-CN" altLang="en-US" sz="1600" dirty="0"/>
              <a:t>为</a:t>
            </a:r>
            <a:r>
              <a:rPr lang="en-US" altLang="zh-CN" sz="1600" dirty="0" err="1"/>
              <a:t>AgentManager</a:t>
            </a:r>
            <a:r>
              <a:rPr lang="zh-CN" altLang="en-US" sz="1600" dirty="0"/>
              <a:t>初始化并注册可用的</a:t>
            </a:r>
            <a:r>
              <a:rPr lang="en-US" altLang="zh-CN" sz="1600" dirty="0"/>
              <a:t>Agent</a:t>
            </a:r>
            <a:r>
              <a:rPr lang="zh-CN" altLang="en-US" sz="1600" dirty="0"/>
              <a:t>、可用的</a:t>
            </a:r>
            <a:r>
              <a:rPr lang="en-US" altLang="zh-CN" sz="1600" dirty="0"/>
              <a:t>MCP Client,</a:t>
            </a:r>
            <a:r>
              <a:rPr lang="zh-CN" altLang="en-US" sz="1600" dirty="0"/>
              <a:t>并将</a:t>
            </a:r>
            <a:r>
              <a:rPr lang="en-US" altLang="zh-CN" sz="1600" dirty="0"/>
              <a:t>Client</a:t>
            </a:r>
            <a:r>
              <a:rPr lang="zh-CN" altLang="en-US" sz="1600" dirty="0"/>
              <a:t>连接到本地脚本服务器</a:t>
            </a:r>
          </a:p>
        </p:txBody>
      </p:sp>
      <p:sp>
        <p:nvSpPr>
          <p:cNvPr id="20" name="文本框 19">
            <a:extLst>
              <a:ext uri="{FF2B5EF4-FFF2-40B4-BE49-F238E27FC236}">
                <a16:creationId xmlns:a16="http://schemas.microsoft.com/office/drawing/2014/main" id="{1BB6CF71-F717-44A9-8E5F-6E0E6844055F}"/>
              </a:ext>
            </a:extLst>
          </p:cNvPr>
          <p:cNvSpPr txBox="1"/>
          <p:nvPr/>
        </p:nvSpPr>
        <p:spPr>
          <a:xfrm>
            <a:off x="2621652" y="2429839"/>
            <a:ext cx="2063609" cy="830997"/>
          </a:xfrm>
          <a:prstGeom prst="rect">
            <a:avLst/>
          </a:prstGeom>
          <a:noFill/>
        </p:spPr>
        <p:txBody>
          <a:bodyPr wrap="square" rtlCol="0">
            <a:spAutoFit/>
          </a:bodyPr>
          <a:lstStyle/>
          <a:p>
            <a:r>
              <a:rPr lang="zh-CN" altLang="en-US" sz="1600" dirty="0"/>
              <a:t>选择一个初始</a:t>
            </a:r>
            <a:r>
              <a:rPr lang="en-US" altLang="zh-CN" sz="1600" dirty="0"/>
              <a:t>Agent</a:t>
            </a:r>
            <a:r>
              <a:rPr lang="zh-CN" altLang="en-US" sz="1600" dirty="0"/>
              <a:t>注册一个任务</a:t>
            </a:r>
            <a:r>
              <a:rPr lang="en-US" altLang="zh-CN" sz="1600" dirty="0"/>
              <a:t>,</a:t>
            </a:r>
            <a:r>
              <a:rPr lang="zh-CN" altLang="en-US" sz="1600" dirty="0"/>
              <a:t>并循环步进直到得到结果。</a:t>
            </a:r>
          </a:p>
        </p:txBody>
      </p:sp>
      <p:cxnSp>
        <p:nvCxnSpPr>
          <p:cNvPr id="22" name="直接箭头连接符 21">
            <a:extLst>
              <a:ext uri="{FF2B5EF4-FFF2-40B4-BE49-F238E27FC236}">
                <a16:creationId xmlns:a16="http://schemas.microsoft.com/office/drawing/2014/main" id="{C481A9C8-06AB-4572-9F9C-2CF21D828FA7}"/>
              </a:ext>
            </a:extLst>
          </p:cNvPr>
          <p:cNvCxnSpPr>
            <a:cxnSpLocks/>
            <a:stCxn id="10" idx="3"/>
            <a:endCxn id="23" idx="1"/>
          </p:cNvCxnSpPr>
          <p:nvPr/>
        </p:nvCxnSpPr>
        <p:spPr>
          <a:xfrm flipV="1">
            <a:off x="7171081" y="2367526"/>
            <a:ext cx="2257840" cy="6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737AE6DD-AEA1-476F-8F02-3631F3CFE155}"/>
              </a:ext>
            </a:extLst>
          </p:cNvPr>
          <p:cNvSpPr/>
          <p:nvPr/>
        </p:nvSpPr>
        <p:spPr>
          <a:xfrm>
            <a:off x="9428921" y="2079291"/>
            <a:ext cx="2001078" cy="57646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err="1"/>
              <a:t>WeatherAgent</a:t>
            </a:r>
            <a:endParaRPr lang="en-US" altLang="zh-CN" dirty="0"/>
          </a:p>
          <a:p>
            <a:pPr algn="ctr"/>
            <a:r>
              <a:rPr lang="en-US" altLang="zh-CN" dirty="0"/>
              <a:t>(</a:t>
            </a:r>
            <a:r>
              <a:rPr lang="zh-CN" altLang="en-US" dirty="0"/>
              <a:t>第一次调用</a:t>
            </a:r>
            <a:r>
              <a:rPr lang="en-US" altLang="zh-CN" dirty="0"/>
              <a:t>) </a:t>
            </a:r>
            <a:endParaRPr lang="zh-CN" altLang="en-US" dirty="0"/>
          </a:p>
        </p:txBody>
      </p:sp>
      <p:sp>
        <p:nvSpPr>
          <p:cNvPr id="31" name="文本框 30">
            <a:extLst>
              <a:ext uri="{FF2B5EF4-FFF2-40B4-BE49-F238E27FC236}">
                <a16:creationId xmlns:a16="http://schemas.microsoft.com/office/drawing/2014/main" id="{FA71A7BC-9A92-406A-8C85-831969C30145}"/>
              </a:ext>
            </a:extLst>
          </p:cNvPr>
          <p:cNvSpPr txBox="1"/>
          <p:nvPr/>
        </p:nvSpPr>
        <p:spPr>
          <a:xfrm>
            <a:off x="7171081" y="1503901"/>
            <a:ext cx="2257840" cy="830997"/>
          </a:xfrm>
          <a:prstGeom prst="rect">
            <a:avLst/>
          </a:prstGeom>
          <a:noFill/>
        </p:spPr>
        <p:txBody>
          <a:bodyPr wrap="square" rtlCol="0">
            <a:spAutoFit/>
          </a:bodyPr>
          <a:lstStyle/>
          <a:p>
            <a:r>
              <a:rPr lang="zh-CN" altLang="en-US" sz="1600" dirty="0"/>
              <a:t>向服务器请求工具列表</a:t>
            </a:r>
            <a:r>
              <a:rPr lang="en-US" altLang="zh-CN" sz="1600" dirty="0"/>
              <a:t>,</a:t>
            </a:r>
            <a:r>
              <a:rPr lang="zh-CN" altLang="en-US" sz="1600" dirty="0"/>
              <a:t>将工具和任务发送给</a:t>
            </a:r>
            <a:r>
              <a:rPr lang="en-US" altLang="zh-CN" sz="1600" dirty="0" err="1"/>
              <a:t>Agent,Agent</a:t>
            </a:r>
            <a:r>
              <a:rPr lang="zh-CN" altLang="en-US" sz="1600" dirty="0"/>
              <a:t>进行</a:t>
            </a:r>
            <a:r>
              <a:rPr lang="en-US" altLang="zh-CN" sz="1600" dirty="0"/>
              <a:t>Chat</a:t>
            </a:r>
            <a:endParaRPr lang="zh-CN" altLang="en-US" sz="1600" dirty="0"/>
          </a:p>
        </p:txBody>
      </p:sp>
      <p:cxnSp>
        <p:nvCxnSpPr>
          <p:cNvPr id="35" name="直接箭头连接符 34">
            <a:extLst>
              <a:ext uri="{FF2B5EF4-FFF2-40B4-BE49-F238E27FC236}">
                <a16:creationId xmlns:a16="http://schemas.microsoft.com/office/drawing/2014/main" id="{6FA44704-07F2-4983-90CD-A604D9CECA9A}"/>
              </a:ext>
            </a:extLst>
          </p:cNvPr>
          <p:cNvCxnSpPr>
            <a:cxnSpLocks/>
          </p:cNvCxnSpPr>
          <p:nvPr/>
        </p:nvCxnSpPr>
        <p:spPr>
          <a:xfrm flipH="1">
            <a:off x="7171081" y="2557670"/>
            <a:ext cx="22578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51D72667-9DE1-440F-BB6B-9890D8E51B87}"/>
              </a:ext>
            </a:extLst>
          </p:cNvPr>
          <p:cNvSpPr txBox="1"/>
          <p:nvPr/>
        </p:nvSpPr>
        <p:spPr>
          <a:xfrm>
            <a:off x="7171081" y="2701556"/>
            <a:ext cx="2257840" cy="830997"/>
          </a:xfrm>
          <a:prstGeom prst="rect">
            <a:avLst/>
          </a:prstGeom>
          <a:noFill/>
        </p:spPr>
        <p:txBody>
          <a:bodyPr wrap="square" rtlCol="0">
            <a:spAutoFit/>
          </a:bodyPr>
          <a:lstStyle/>
          <a:p>
            <a:r>
              <a:rPr lang="en-US" altLang="zh-CN" sz="1600" dirty="0"/>
              <a:t>Agent</a:t>
            </a:r>
            <a:r>
              <a:rPr lang="zh-CN" altLang="en-US" sz="1600" dirty="0"/>
              <a:t>认为需要调用工具</a:t>
            </a:r>
            <a:r>
              <a:rPr lang="en-US" altLang="zh-CN" sz="1600" dirty="0"/>
              <a:t>,</a:t>
            </a:r>
            <a:r>
              <a:rPr lang="zh-CN" altLang="en-US" sz="1600" dirty="0"/>
              <a:t>向</a:t>
            </a:r>
            <a:r>
              <a:rPr lang="en-US" altLang="zh-CN" sz="1600" dirty="0"/>
              <a:t>Manager</a:t>
            </a:r>
            <a:r>
              <a:rPr lang="zh-CN" altLang="en-US" sz="1600" dirty="0"/>
              <a:t>发送请求和工具所需的参数</a:t>
            </a:r>
          </a:p>
        </p:txBody>
      </p:sp>
      <p:cxnSp>
        <p:nvCxnSpPr>
          <p:cNvPr id="43" name="直接箭头连接符 42">
            <a:extLst>
              <a:ext uri="{FF2B5EF4-FFF2-40B4-BE49-F238E27FC236}">
                <a16:creationId xmlns:a16="http://schemas.microsoft.com/office/drawing/2014/main" id="{72E90E45-F1B8-4E3E-A621-744F55711AD0}"/>
              </a:ext>
            </a:extLst>
          </p:cNvPr>
          <p:cNvCxnSpPr>
            <a:cxnSpLocks/>
          </p:cNvCxnSpPr>
          <p:nvPr/>
        </p:nvCxnSpPr>
        <p:spPr>
          <a:xfrm>
            <a:off x="5574194" y="2669357"/>
            <a:ext cx="0" cy="25453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1779790C-F76E-4B3E-B7FE-BD461500F936}"/>
              </a:ext>
            </a:extLst>
          </p:cNvPr>
          <p:cNvCxnSpPr>
            <a:cxnSpLocks/>
          </p:cNvCxnSpPr>
          <p:nvPr/>
        </p:nvCxnSpPr>
        <p:spPr>
          <a:xfrm flipV="1">
            <a:off x="6467061" y="2662043"/>
            <a:ext cx="0" cy="25526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矩形 47">
            <a:extLst>
              <a:ext uri="{FF2B5EF4-FFF2-40B4-BE49-F238E27FC236}">
                <a16:creationId xmlns:a16="http://schemas.microsoft.com/office/drawing/2014/main" id="{93526BC8-6FA5-490D-A7DA-44769956882D}"/>
              </a:ext>
            </a:extLst>
          </p:cNvPr>
          <p:cNvSpPr/>
          <p:nvPr/>
        </p:nvSpPr>
        <p:spPr>
          <a:xfrm>
            <a:off x="4974950" y="5214731"/>
            <a:ext cx="2001078" cy="57646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MCP Server</a:t>
            </a:r>
            <a:endParaRPr lang="zh-CN" altLang="en-US" dirty="0"/>
          </a:p>
        </p:txBody>
      </p:sp>
      <p:sp>
        <p:nvSpPr>
          <p:cNvPr id="54" name="文本框 53">
            <a:extLst>
              <a:ext uri="{FF2B5EF4-FFF2-40B4-BE49-F238E27FC236}">
                <a16:creationId xmlns:a16="http://schemas.microsoft.com/office/drawing/2014/main" id="{4510BE4F-680F-4D04-83F3-F34F3A5DD58C}"/>
              </a:ext>
            </a:extLst>
          </p:cNvPr>
          <p:cNvSpPr txBox="1"/>
          <p:nvPr/>
        </p:nvSpPr>
        <p:spPr>
          <a:xfrm>
            <a:off x="3241811" y="3899418"/>
            <a:ext cx="2257840" cy="584775"/>
          </a:xfrm>
          <a:prstGeom prst="rect">
            <a:avLst/>
          </a:prstGeom>
          <a:noFill/>
        </p:spPr>
        <p:txBody>
          <a:bodyPr wrap="square" rtlCol="0">
            <a:spAutoFit/>
          </a:bodyPr>
          <a:lstStyle/>
          <a:p>
            <a:r>
              <a:rPr lang="en-US" altLang="zh-CN" sz="1600" dirty="0"/>
              <a:t>Agent</a:t>
            </a:r>
            <a:r>
              <a:rPr lang="zh-CN" altLang="en-US" sz="1600" dirty="0"/>
              <a:t>通过</a:t>
            </a:r>
            <a:r>
              <a:rPr lang="en-US" altLang="zh-CN" sz="1600" dirty="0"/>
              <a:t>MCP Client</a:t>
            </a:r>
            <a:r>
              <a:rPr lang="zh-CN" altLang="en-US" sz="1600" dirty="0"/>
              <a:t>发送工具使用的请求</a:t>
            </a:r>
          </a:p>
        </p:txBody>
      </p:sp>
      <p:sp>
        <p:nvSpPr>
          <p:cNvPr id="55" name="文本框 54">
            <a:extLst>
              <a:ext uri="{FF2B5EF4-FFF2-40B4-BE49-F238E27FC236}">
                <a16:creationId xmlns:a16="http://schemas.microsoft.com/office/drawing/2014/main" id="{FF2C7C66-7B0C-4648-9637-2E69D83B5B17}"/>
              </a:ext>
            </a:extLst>
          </p:cNvPr>
          <p:cNvSpPr txBox="1"/>
          <p:nvPr/>
        </p:nvSpPr>
        <p:spPr>
          <a:xfrm>
            <a:off x="6652590" y="3938387"/>
            <a:ext cx="2257840" cy="584775"/>
          </a:xfrm>
          <a:prstGeom prst="rect">
            <a:avLst/>
          </a:prstGeom>
          <a:noFill/>
        </p:spPr>
        <p:txBody>
          <a:bodyPr wrap="square" rtlCol="0">
            <a:spAutoFit/>
          </a:bodyPr>
          <a:lstStyle/>
          <a:p>
            <a:r>
              <a:rPr lang="en-US" altLang="zh-CN" sz="1600" dirty="0" err="1"/>
              <a:t>MCPServer</a:t>
            </a:r>
            <a:r>
              <a:rPr lang="zh-CN" altLang="en-US" sz="1600" dirty="0"/>
              <a:t>将工具结果返回给</a:t>
            </a:r>
            <a:r>
              <a:rPr lang="en-US" altLang="zh-CN" sz="1600" dirty="0"/>
              <a:t>Manager</a:t>
            </a:r>
            <a:endParaRPr lang="zh-CN" altLang="en-US" sz="1600" dirty="0"/>
          </a:p>
        </p:txBody>
      </p:sp>
      <p:sp>
        <p:nvSpPr>
          <p:cNvPr id="56" name="矩形 55">
            <a:extLst>
              <a:ext uri="{FF2B5EF4-FFF2-40B4-BE49-F238E27FC236}">
                <a16:creationId xmlns:a16="http://schemas.microsoft.com/office/drawing/2014/main" id="{58958789-5DB6-4596-9261-34760AC8F20C}"/>
              </a:ext>
            </a:extLst>
          </p:cNvPr>
          <p:cNvSpPr/>
          <p:nvPr/>
        </p:nvSpPr>
        <p:spPr>
          <a:xfrm>
            <a:off x="5082000" y="349881"/>
            <a:ext cx="2001078" cy="57646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err="1"/>
              <a:t>WeatherAgent</a:t>
            </a:r>
            <a:endParaRPr lang="en-US" altLang="zh-CN" dirty="0"/>
          </a:p>
          <a:p>
            <a:pPr algn="ctr"/>
            <a:r>
              <a:rPr lang="en-US" altLang="zh-CN" dirty="0"/>
              <a:t>(</a:t>
            </a:r>
            <a:r>
              <a:rPr lang="zh-CN" altLang="en-US" dirty="0"/>
              <a:t>第二次调用</a:t>
            </a:r>
            <a:r>
              <a:rPr lang="en-US" altLang="zh-CN" dirty="0"/>
              <a:t>) </a:t>
            </a:r>
            <a:endParaRPr lang="zh-CN" altLang="en-US" dirty="0"/>
          </a:p>
        </p:txBody>
      </p:sp>
      <p:cxnSp>
        <p:nvCxnSpPr>
          <p:cNvPr id="57" name="直接箭头连接符 56">
            <a:extLst>
              <a:ext uri="{FF2B5EF4-FFF2-40B4-BE49-F238E27FC236}">
                <a16:creationId xmlns:a16="http://schemas.microsoft.com/office/drawing/2014/main" id="{25C40A6E-9063-4EAE-B81B-38BF100C0D74}"/>
              </a:ext>
            </a:extLst>
          </p:cNvPr>
          <p:cNvCxnSpPr>
            <a:cxnSpLocks/>
          </p:cNvCxnSpPr>
          <p:nvPr/>
        </p:nvCxnSpPr>
        <p:spPr>
          <a:xfrm flipV="1">
            <a:off x="5850835" y="914069"/>
            <a:ext cx="0" cy="11519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D9811102-5323-4B3C-9341-BA9B374B8BAE}"/>
              </a:ext>
            </a:extLst>
          </p:cNvPr>
          <p:cNvCxnSpPr>
            <a:cxnSpLocks/>
          </p:cNvCxnSpPr>
          <p:nvPr/>
        </p:nvCxnSpPr>
        <p:spPr>
          <a:xfrm>
            <a:off x="6096000" y="933665"/>
            <a:ext cx="0" cy="11529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文本框 69">
            <a:extLst>
              <a:ext uri="{FF2B5EF4-FFF2-40B4-BE49-F238E27FC236}">
                <a16:creationId xmlns:a16="http://schemas.microsoft.com/office/drawing/2014/main" id="{1F842D8F-DEAD-4F3D-9B1B-2746AF370968}"/>
              </a:ext>
            </a:extLst>
          </p:cNvPr>
          <p:cNvSpPr txBox="1"/>
          <p:nvPr/>
        </p:nvSpPr>
        <p:spPr>
          <a:xfrm>
            <a:off x="6190839" y="1003688"/>
            <a:ext cx="2529092" cy="338554"/>
          </a:xfrm>
          <a:prstGeom prst="rect">
            <a:avLst/>
          </a:prstGeom>
          <a:noFill/>
        </p:spPr>
        <p:txBody>
          <a:bodyPr wrap="square" rtlCol="0">
            <a:spAutoFit/>
          </a:bodyPr>
          <a:lstStyle/>
          <a:p>
            <a:r>
              <a:rPr lang="zh-CN" altLang="en-US" sz="1600" dirty="0">
                <a:solidFill>
                  <a:schemeClr val="accent4">
                    <a:lumMod val="75000"/>
                  </a:schemeClr>
                </a:solidFill>
              </a:rPr>
              <a:t>将最终结果还给</a:t>
            </a:r>
            <a:r>
              <a:rPr lang="en-US" altLang="zh-CN" sz="1600" dirty="0">
                <a:solidFill>
                  <a:schemeClr val="accent4">
                    <a:lumMod val="75000"/>
                  </a:schemeClr>
                </a:solidFill>
              </a:rPr>
              <a:t>Manager</a:t>
            </a:r>
            <a:endParaRPr lang="zh-CN" altLang="en-US" sz="1600" dirty="0">
              <a:solidFill>
                <a:schemeClr val="accent4">
                  <a:lumMod val="75000"/>
                </a:schemeClr>
              </a:solidFill>
            </a:endParaRPr>
          </a:p>
        </p:txBody>
      </p:sp>
      <p:sp>
        <p:nvSpPr>
          <p:cNvPr id="71" name="文本框 70">
            <a:extLst>
              <a:ext uri="{FF2B5EF4-FFF2-40B4-BE49-F238E27FC236}">
                <a16:creationId xmlns:a16="http://schemas.microsoft.com/office/drawing/2014/main" id="{A3D9856F-AEF2-4B55-B066-1E19961B5167}"/>
              </a:ext>
            </a:extLst>
          </p:cNvPr>
          <p:cNvSpPr txBox="1"/>
          <p:nvPr/>
        </p:nvSpPr>
        <p:spPr>
          <a:xfrm>
            <a:off x="2621652" y="983351"/>
            <a:ext cx="3306314" cy="338554"/>
          </a:xfrm>
          <a:prstGeom prst="rect">
            <a:avLst/>
          </a:prstGeom>
          <a:noFill/>
        </p:spPr>
        <p:txBody>
          <a:bodyPr wrap="square" rtlCol="0">
            <a:spAutoFit/>
          </a:bodyPr>
          <a:lstStyle/>
          <a:p>
            <a:r>
              <a:rPr lang="zh-CN" altLang="en-US" sz="1600" dirty="0">
                <a:solidFill>
                  <a:schemeClr val="accent4">
                    <a:lumMod val="75000"/>
                  </a:schemeClr>
                </a:solidFill>
              </a:rPr>
              <a:t>获取工具信息和对话历史</a:t>
            </a:r>
            <a:r>
              <a:rPr lang="en-US" altLang="zh-CN" sz="1600" dirty="0">
                <a:solidFill>
                  <a:schemeClr val="accent4">
                    <a:lumMod val="75000"/>
                  </a:schemeClr>
                </a:solidFill>
              </a:rPr>
              <a:t>,</a:t>
            </a:r>
            <a:r>
              <a:rPr lang="zh-CN" altLang="en-US" sz="1600" dirty="0">
                <a:solidFill>
                  <a:schemeClr val="accent4">
                    <a:lumMod val="75000"/>
                  </a:schemeClr>
                </a:solidFill>
              </a:rPr>
              <a:t>继续工作</a:t>
            </a:r>
          </a:p>
        </p:txBody>
      </p:sp>
      <p:cxnSp>
        <p:nvCxnSpPr>
          <p:cNvPr id="74" name="直接箭头连接符 73">
            <a:extLst>
              <a:ext uri="{FF2B5EF4-FFF2-40B4-BE49-F238E27FC236}">
                <a16:creationId xmlns:a16="http://schemas.microsoft.com/office/drawing/2014/main" id="{736592C7-F817-45DC-9619-58463F524F84}"/>
              </a:ext>
            </a:extLst>
          </p:cNvPr>
          <p:cNvCxnSpPr>
            <a:stCxn id="3" idx="2"/>
          </p:cNvCxnSpPr>
          <p:nvPr/>
        </p:nvCxnSpPr>
        <p:spPr>
          <a:xfrm>
            <a:off x="1553818" y="2655760"/>
            <a:ext cx="0" cy="10482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5" name="矩形 74">
            <a:extLst>
              <a:ext uri="{FF2B5EF4-FFF2-40B4-BE49-F238E27FC236}">
                <a16:creationId xmlns:a16="http://schemas.microsoft.com/office/drawing/2014/main" id="{A03041AD-16AE-4EDB-BE8F-F81DD93DD8C4}"/>
              </a:ext>
            </a:extLst>
          </p:cNvPr>
          <p:cNvSpPr/>
          <p:nvPr/>
        </p:nvSpPr>
        <p:spPr>
          <a:xfrm>
            <a:off x="894522" y="3703983"/>
            <a:ext cx="1325216" cy="6758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输出结果</a:t>
            </a:r>
          </a:p>
        </p:txBody>
      </p:sp>
    </p:spTree>
    <p:extLst>
      <p:ext uri="{BB962C8B-B14F-4D97-AF65-F5344CB8AC3E}">
        <p14:creationId xmlns:p14="http://schemas.microsoft.com/office/powerpoint/2010/main" val="168930922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834.6456692913384,&quot;width&quot;:2821.8204724409447}"/>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409</TotalTime>
  <Words>943</Words>
  <Application>Microsoft Office PowerPoint</Application>
  <PresentationFormat>宽屏</PresentationFormat>
  <Paragraphs>76</Paragraphs>
  <Slides>6</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6</vt:i4>
      </vt:variant>
    </vt:vector>
  </HeadingPairs>
  <TitlesOfParts>
    <vt:vector size="12" baseType="lpstr">
      <vt:lpstr>맑은 고딕</vt:lpstr>
      <vt:lpstr>等线</vt:lpstr>
      <vt:lpstr>Microsoft YaHei</vt:lpstr>
      <vt:lpstr>Arial</vt:lpstr>
      <vt:lpstr>Consolas</vt:lpstr>
      <vt:lpstr>自定义设计方案</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Aiden Ye</cp:lastModifiedBy>
  <cp:revision>2064</cp:revision>
  <dcterms:created xsi:type="dcterms:W3CDTF">2024-03-11T04:43:00Z</dcterms:created>
  <dcterms:modified xsi:type="dcterms:W3CDTF">2025-11-04T09:19:39Z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72D37DD8043C439AA98B315F919D1267_13</vt:lpwstr>
  </property>
  <property fmtid="{D5CDD505-2E9C-101B-9397-08002B2CF9AE}" pid="3" name="KSOProductBuildVer">
    <vt:lpwstr>2052-12.1.0.20305</vt:lpwstr>
  </property>
</Properties>
</file>